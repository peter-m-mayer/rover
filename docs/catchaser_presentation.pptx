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6400" b="1">
                <a:solidFill>
                  <a:srgbClr val="EAFFE6"/>
                </a:solidFill>
                <a:latin typeface="Chakra Petch"/>
              </a:rPr>
              <a:t>CAT CHASER 3000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6CFF5C"/>
                </a:solidFill>
                <a:latin typeface="Consolas"/>
              </a:rPr>
              <a:t>An autonomous cat-pursuit robot — field report, 2026-09-05 → 07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7D967A"/>
                </a:solidFill>
                <a:latin typeface="Consolas"/>
              </a:rPr>
              <a:t>Yahboom RASPBOT-V2 · Raspberry Pi 5 · YOLOv8n/COCO · PID mecanum control · PyBullet-validated · one unimpressed Bengal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D9A45"/>
                </a:solidFill>
                <a:latin typeface="Consolas"/>
              </a:rPr>
              <a:t>PI 5 AARCH64   ·   DETECTOR 15 HZ   ·   239 TESTS GREEN   ·   CATS HARMED: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D9A45"/>
                </a:solidFill>
                <a:latin typeface="Consolas"/>
              </a:rPr>
              <a:t>// 01 · MISSION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AFFE6"/>
                </a:solidFill>
                <a:latin typeface="Chakra Petch"/>
              </a:rPr>
              <a:t>One loop, five links, zero mercy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881360" cy="3291840"/>
          </a:xfrm>
          <a:prstGeom prst="rect">
            <a:avLst/>
          </a:prstGeom>
          <a:solidFill>
            <a:srgbClr val="0D130C"/>
          </a:solidFill>
          <a:ln w="12700">
            <a:solidFill>
              <a:srgbClr val="223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0000" tIns="90000"/>
          <a:lstStyle/>
          <a:p>
            <a:pPr algn="ctr">
              <a:spcAft>
                <a:spcPts val="200"/>
              </a:spcAft>
            </a:pPr>
            <a:r>
              <a:rPr sz="1300">
                <a:solidFill>
                  <a:srgbClr val="EAFFE6"/>
                </a:solidFill>
                <a:latin typeface="Consolas"/>
              </a:rPr>
              <a:t>camera 640x480 BGR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7D967A"/>
                </a:solidFill>
                <a:latin typeface="Consolas"/>
              </a:rPr>
              <a:t>   |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CFF5C"/>
                </a:solidFill>
                <a:latin typeface="Consolas"/>
              </a:rPr>
              <a:t>YOLOv8n ONNX @320px  -&gt;  cat boxes (COCO class 15), conf &gt;= 0.50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7D967A"/>
                </a:solidFill>
                <a:latin typeface="Consolas"/>
              </a:rPr>
              <a:t>   |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AFFE6"/>
                </a:solidFill>
                <a:latin typeface="Consolas"/>
              </a:rPr>
              <a:t>centroid -&gt; heading error     err = (cx - W/2)/(W/2)  in [-1, +1]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7D967A"/>
                </a:solidFill>
                <a:latin typeface="Consolas"/>
              </a:rPr>
              <a:t>   |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CFF5C"/>
                </a:solidFill>
                <a:latin typeface="Consolas"/>
              </a:rPr>
              <a:t>PID (KP=40 KI=0 KD=6, hardware-calibrated)  -&gt;  turn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7D967A"/>
                </a:solidFill>
                <a:latin typeface="Consolas"/>
              </a:rPr>
              <a:t>   |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AFFE6"/>
                </a:solidFill>
                <a:latin typeface="Consolas"/>
              </a:rPr>
              <a:t>mecanum mix  drive(forward, turn)  -&gt;  4 wheel speeds, cap 120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7D967A"/>
                </a:solidFill>
                <a:latin typeface="Consolas"/>
              </a:rPr>
              <a:t>   |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B454"/>
                </a:solidFill>
                <a:latin typeface="Consolas"/>
              </a:rPr>
              <a:t>safety: ultrasonic HOLD @200mm · IR kill · Ctrl+C · runtime 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7D967A"/>
                </a:solidFill>
                <a:latin typeface="Consolas"/>
              </a:rPr>
              <a:t>Same controller runs on real hardware and the PyBullet twin — the sim caught the design bugs, the carpet caught the physics bugs.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D9A45"/>
                </a:solidFill>
                <a:latin typeface="Consolas"/>
              </a:rPr>
              <a:t>// 02 · 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AFFE6"/>
                </a:solidFill>
                <a:latin typeface="Chakra Petch"/>
              </a:rPr>
              <a:t>Yahboom RASPBOT-V2 + Raspberry Pi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Compute  </a:t>
            </a:r>
            <a:r>
              <a:rPr sz="1300">
                <a:solidFill>
                  <a:srgbClr val="7D967A"/>
                </a:solidFill>
                <a:latin typeface="Consolas"/>
              </a:rPr>
              <a:t>Pi 5 Model B rev 1.1 · aarch64 · Python 3.11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MCU bridge  </a:t>
            </a:r>
            <a:r>
              <a:rPr sz="1300">
                <a:solidFill>
                  <a:srgbClr val="7D967A"/>
                </a:solidFill>
                <a:latin typeface="Consolas"/>
              </a:rPr>
              <a:t>I2C bus 1 @ 0x2B — motors, servos, LEDs, buzzer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Drive  </a:t>
            </a:r>
            <a:r>
              <a:rPr sz="1300">
                <a:solidFill>
                  <a:srgbClr val="7D967A"/>
                </a:solidFill>
                <a:latin typeface="Consolas"/>
              </a:rPr>
              <a:t>4x mecanum wheels, ±255, no encoders — "motor commands are suggestions"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Camera  </a:t>
            </a:r>
            <a:r>
              <a:rPr sz="1300">
                <a:solidFill>
                  <a:srgbClr val="7D967A"/>
                </a:solidFill>
                <a:latin typeface="Consolas"/>
              </a:rPr>
              <a:t>USB 640x480, fixed focus (~0.4 m to infinity)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Ranging  </a:t>
            </a:r>
            <a:r>
              <a:rPr sz="1300">
                <a:solidFill>
                  <a:srgbClr val="7D967A"/>
                </a:solidFill>
                <a:latin typeface="Consolas"/>
              </a:rPr>
              <a:t>forward ultrasonic, mm resolution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Status  </a:t>
            </a:r>
            <a:r>
              <a:rPr sz="1300">
                <a:solidFill>
                  <a:srgbClr val="7D967A"/>
                </a:solidFill>
                <a:latin typeface="Consolas"/>
              </a:rPr>
              <a:t>14x WS2812B LEDs + buzzer + IR remote (kill switch)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737360"/>
            <a:ext cx="4663440" cy="2651760"/>
          </a:xfrm>
          <a:prstGeom prst="rect">
            <a:avLst/>
          </a:prstGeom>
          <a:solidFill>
            <a:srgbClr val="0D130C"/>
          </a:solidFill>
          <a:ln w="12700">
            <a:solidFill>
              <a:srgbClr val="223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0000" tIns="9000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3D9A45"/>
                </a:solidFill>
                <a:latin typeface="Consolas"/>
              </a:rPr>
              <a:t>vendor API archaeology (on-device):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F5470"/>
                </a:solidFill>
                <a:latin typeface="Consolas"/>
              </a:rPr>
              <a:t>docs promised:   Ctrl_WS2812B(id, r, g, b)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CFF5C"/>
                </a:solidFill>
                <a:latin typeface="Consolas"/>
              </a:rPr>
              <a:t>hardware ships:  Ctrl_WQ2812_ALL(state, idx)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7D967A"/>
                </a:solidFill>
                <a:latin typeface="Consolas"/>
              </a:rPr>
              <a:t>                 red=0 green=1 blue=2 yellow=3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CFF5C"/>
                </a:solidFill>
                <a:latin typeface="Consolas"/>
              </a:rPr>
              <a:t>buzzer:          Ctrl_BEEP_Switch(state)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CFF5C"/>
                </a:solidFill>
                <a:latin typeface="Consolas"/>
              </a:rPr>
              <a:t>IR idle byte:    0xFF  (not 0 — kill switch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7D967A"/>
                </a:solidFill>
                <a:latin typeface="Consolas"/>
              </a:rPr>
              <a:t>                 fired instantly until fixed)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D9A45"/>
                </a:solidFill>
                <a:latin typeface="Consolas"/>
              </a:rPr>
              <a:t>// 03 · THE NEURAL NET ·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AFFE6"/>
                </a:solidFill>
                <a:latin typeface="Chakra Petch"/>
              </a:rPr>
              <a:t>YOLOv8-nano, COCO-raised, cat-filtered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126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Origin  </a:t>
            </a:r>
            <a:r>
              <a:rPr sz="1300">
                <a:solidFill>
                  <a:srgbClr val="7D967A"/>
                </a:solidFill>
                <a:latin typeface="Consolas"/>
              </a:rPr>
              <a:t>Ultralytics YOLOv8n, pretrained on COCO 2017 (118k images, 80 classes). We keep exactly one: class 15, cat.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Export  </a:t>
            </a:r>
            <a:r>
              <a:rPr sz="1300">
                <a:solidFill>
                  <a:srgbClr val="7D967A"/>
                </a:solidFill>
                <a:latin typeface="Consolas"/>
              </a:rPr>
              <a:t>yolov8n.pt -&gt; ONNX · 320px input · opset 12 · simplified · 12.1 MB · ~3.2M params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Runtime  </a:t>
            </a:r>
            <a:r>
              <a:rPr sz="1300">
                <a:solidFill>
                  <a:srgbClr val="7D967A"/>
                </a:solidFill>
                <a:latin typeface="Consolas"/>
              </a:rPr>
              <a:t>pure onnxruntime + OpenCV on the robot — no ultralytics, no torch. Letterbox -&gt; NCHW -&gt; NMS in ~150 lines.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Threshold  </a:t>
            </a:r>
            <a:r>
              <a:rPr sz="1300">
                <a:solidFill>
                  <a:srgbClr val="7D967A"/>
                </a:solidFill>
                <a:latin typeface="Consolas"/>
              </a:rPr>
              <a:t>conf &gt;= 0.50, field-calibrated: real cat always &gt;= 0.53, false positives 0.41–0.45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Fine-tune?  </a:t>
            </a:r>
            <a:r>
              <a:rPr sz="1300">
                <a:solidFill>
                  <a:srgbClr val="7D967A"/>
                </a:solidFill>
                <a:latin typeface="Consolas"/>
              </a:rPr>
              <a:t>Not yet — 93% raw precision in the field. Pipeline stands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0" y="1737360"/>
            <a:ext cx="4572000" cy="2651760"/>
          </a:xfrm>
          <a:prstGeom prst="rect">
            <a:avLst/>
          </a:prstGeom>
          <a:solidFill>
            <a:srgbClr val="0D130C"/>
          </a:solidFill>
          <a:ln w="12700">
            <a:solidFill>
              <a:srgbClr val="223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0000" tIns="9000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3D9A45"/>
                </a:solidFill>
                <a:latin typeface="Consolas"/>
              </a:rPr>
              <a:t>VALIDATION LADDER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>x86 sanity    real-cat photo    conf 0.94  ✓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>x86 bench     21 ms/frame       47 Hz      ✓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CFF5C"/>
                </a:solidFill>
                <a:latin typeface="Consolas"/>
              </a:rPr>
              <a:t>pi5 bench     54 ms inference   16.6 Hz    ✓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CFF5C"/>
                </a:solidFill>
                <a:latin typeface="Consolas"/>
              </a:rPr>
              <a:t>pi5+camera    66 ms end-to-end  15.1 Hz    ✓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CFF5C"/>
                </a:solidFill>
                <a:latin typeface="Consolas"/>
              </a:rPr>
              <a:t>field         live Bengal @3m   conf 0.63  ✓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5EE6D0"/>
                </a:solidFill>
                <a:latin typeface="Consolas"/>
              </a:rPr>
              <a:t>target        &gt;= 1 Hz           15x margin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D9A45"/>
                </a:solidFill>
                <a:latin typeface="Consolas"/>
              </a:rPr>
              <a:t>// 04 · THE RASPBERRY PI 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AFFE6"/>
                </a:solidFill>
                <a:latin typeface="Chakra Petch"/>
              </a:rPr>
              <a:t>Dependency minefield, cleared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cv2 corrupted on arrival  </a:t>
            </a:r>
            <a:r>
              <a:rPr sz="1300">
                <a:solidFill>
                  <a:srgbClr val="7D967A"/>
                </a:solidFill>
                <a:latin typeface="Consolas"/>
              </a:rPr>
              <a:t>ImportError naming a library called 'y'; ldd showed garbage ELF entries. Damaged binary + dueling opencv installs.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The pin matrix  </a:t>
            </a:r>
            <a:r>
              <a:rPr sz="1300">
                <a:solidFill>
                  <a:srgbClr val="7D967A"/>
                </a:solidFill>
                <a:latin typeface="Consolas"/>
              </a:rPr>
              <a:t>onnxruntime 1.18.1 needs numpy&lt;2; opencv 5.x drags in numpy 2.4. Landed: numpy 1.26.4 + opencv-headless 4.11 + ort 1.18.1.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64-bit dividend  </a:t>
            </a:r>
            <a:r>
              <a:rPr sz="1300">
                <a:solidFill>
                  <a:srgbClr val="7D967A"/>
                </a:solidFill>
                <a:latin typeface="Consolas"/>
              </a:rPr>
              <a:t>aarch64 confirmed on-device -&gt; onnxruntime wheels just work; the feared Pi-3/TFLite fallback never happened.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1737360"/>
            <a:ext cx="4663440" cy="2651760"/>
          </a:xfrm>
          <a:prstGeom prst="rect">
            <a:avLst/>
          </a:prstGeom>
          <a:solidFill>
            <a:srgbClr val="0D130C"/>
          </a:solidFill>
          <a:ln w="12700">
            <a:solidFill>
              <a:srgbClr val="223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0000" tIns="9000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3D9A45"/>
                </a:solidFill>
                <a:latin typeface="Consolas"/>
              </a:rPr>
              <a:t>PI 5 BENCHMARK · catchaser.benchmark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AFFE6"/>
                </a:solidFill>
                <a:latin typeface="Consolas"/>
              </a:rPr>
              <a:t>mode              inference   e2e      rate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>synthetic frame   54.1 ms     60.3 ms  16.6 Hz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CFF5C"/>
                </a:solidFill>
                <a:latin typeface="Consolas"/>
              </a:rPr>
              <a:t>camera in loop    57.2 ms     66.2 ms  15.1 Hz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>--threads 4       56.1 ms     —        15.9 Hz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7D967A"/>
                </a:solidFill>
                <a:latin typeface="Consolas"/>
              </a:rPr>
              <a:t># auto-threading already optimal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7D967A"/>
                </a:solidFill>
                <a:latin typeface="Consolas"/>
              </a:rPr>
              <a:t># x86 -&gt; pi5 scaling factor: x2.6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D9A45"/>
                </a:solidFill>
                <a:latin typeface="Consolas"/>
              </a:rPr>
              <a:t>// 05 · MOTION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AFFE6"/>
                </a:solidFill>
                <a:latin typeface="Chakra Petch"/>
              </a:rPr>
              <a:t>Mecanum math + a PID tamed by telemetry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5669280" cy="2926080"/>
          </a:xfrm>
          <a:prstGeom prst="rect">
            <a:avLst/>
          </a:prstGeom>
          <a:solidFill>
            <a:srgbClr val="0D130C"/>
          </a:solidFill>
          <a:ln w="12700">
            <a:solidFill>
              <a:srgbClr val="223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0000" tIns="90000"/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7D967A"/>
                </a:solidFill>
                <a:latin typeface="Consolas"/>
              </a:rPr>
              <a:t># wheel mix — forward, clockwise turn, strafe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AFFE6"/>
                </a:solidFill>
                <a:latin typeface="Consolas"/>
              </a:rPr>
              <a:t>l1 = forward + strafe + turn    # front-left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AFFE6"/>
                </a:solidFill>
                <a:latin typeface="Consolas"/>
              </a:rPr>
              <a:t>l2 = forward - strafe + turn    # rear-left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AFFE6"/>
                </a:solidFill>
                <a:latin typeface="Consolas"/>
              </a:rPr>
              <a:t>r1 = forward - strafe - turn    # front-right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AFFE6"/>
                </a:solidFill>
                <a:latin typeface="Consolas"/>
              </a:rPr>
              <a:t>r2 = forward + strafe - turn    # rear-right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C9DFC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CFF5C"/>
                </a:solidFill>
                <a:latin typeface="Consolas"/>
              </a:rPr>
              <a:t>err  = (cat.cx - W/2) / (W/2)   # normalized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CFF5C"/>
                </a:solidFill>
                <a:latin typeface="Consolas"/>
              </a:rPr>
              <a:t>turn = KP*err + KD*d_err        # KP 80 -&gt; 40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CFF5C"/>
                </a:solidFill>
                <a:latin typeface="Consolas"/>
              </a:rPr>
              <a:t>fwd *= clamp((us-200)/400, .35, 1)  # taper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737360"/>
            <a:ext cx="5029200" cy="2926080"/>
          </a:xfrm>
          <a:prstGeom prst="rect">
            <a:avLst/>
          </a:prstGeom>
          <a:solidFill>
            <a:srgbClr val="0D130C"/>
          </a:solidFill>
          <a:ln w="12700">
            <a:solidFill>
              <a:srgbClr val="223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0000" tIns="9000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3D9A45"/>
                </a:solidFill>
                <a:latin typeface="Consolas"/>
              </a:rPr>
              <a:t>THE OVERSHOOT, CAUGHT IN TELEMETRY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>f0582 TRACKING err=+0.38 turn=+44.4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FB454"/>
                </a:solidFill>
                <a:latin typeface="Consolas"/>
              </a:rPr>
              <a:t>f0586 TRACKING err=-0.27 turn=-31.8  &lt;- flipped!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F5470"/>
                </a:solidFill>
                <a:latin typeface="Consolas"/>
              </a:rPr>
              <a:t>f0588 LOST     ...and the cat is gone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7D967A"/>
                </a:solidFill>
                <a:latin typeface="Consolas"/>
              </a:rPr>
              <a:t>sim said KP=80; the carpet said KP=40.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7D967A"/>
                </a:solidFill>
                <a:latin typeface="Consolas"/>
              </a:rPr>
              <a:t>plus: D-term now needs 2 tracked frames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7D967A"/>
                </a:solidFill>
                <a:latin typeface="Consolas"/>
              </a:rPr>
              <a:t>(fresh-acquisition kick was a bug)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D9A45"/>
                </a:solidFill>
                <a:latin typeface="Consolas"/>
              </a:rPr>
              <a:t>// 06 · BEHAVIOR STATE MACHINE · LED = MOOD 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AFFE6"/>
                </a:solidFill>
                <a:latin typeface="Chakra Petch"/>
              </a:rPr>
              <a:t>Four states, visible from the couch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5394960" cy="1691640"/>
          </a:xfrm>
          <a:prstGeom prst="rect">
            <a:avLst/>
          </a:prstGeom>
          <a:solidFill>
            <a:srgbClr val="0D130C"/>
          </a:solidFill>
          <a:ln w="15875">
            <a:solidFill>
              <a:srgbClr val="6CF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0" tIns="900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6CFF5C"/>
                </a:solidFill>
                <a:latin typeface="Chakra Petch"/>
              </a:rPr>
              <a:t>● TRACKING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7D967A"/>
                </a:solidFill>
                <a:latin typeface="Consolas"/>
              </a:rPr>
              <a:t>Cat in frame: steer to center, drive forward. Full speed centered; turn-in-place past |err| 0.5; deadband ±0.06.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737360"/>
            <a:ext cx="5394960" cy="1691640"/>
          </a:xfrm>
          <a:prstGeom prst="rect">
            <a:avLst/>
          </a:prstGeom>
          <a:solidFill>
            <a:srgbClr val="0D130C"/>
          </a:solidFill>
          <a:ln w="15875">
            <a:solidFill>
              <a:srgbClr val="FF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0" tIns="900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B454"/>
                </a:solidFill>
                <a:latin typeface="Chakra Petch"/>
              </a:rPr>
              <a:t>● LOST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7D967A"/>
                </a:solidFill>
                <a:latin typeface="Consolas"/>
              </a:rPr>
              <a:t>Cat vanished: hold 3 grace frames — a dropped detection shouldn't trigger a panic spin.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657600"/>
            <a:ext cx="5394960" cy="1691640"/>
          </a:xfrm>
          <a:prstGeom prst="rect">
            <a:avLst/>
          </a:prstGeom>
          <a:solidFill>
            <a:srgbClr val="0D130C"/>
          </a:solidFill>
          <a:ln w="15875">
            <a:solidFill>
              <a:srgbClr val="FF5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0" tIns="900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5470"/>
                </a:solidFill>
                <a:latin typeface="Chakra Petch"/>
              </a:rPr>
              <a:t>● SEARCHING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7D967A"/>
                </a:solidFill>
                <a:latin typeface="Consolas"/>
              </a:rPr>
              <a:t>Spin-and-stare: 2 frames rotating toward last-seen side, 3 parked for sharp frames. Continuous spin outran the detector.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3657600"/>
            <a:ext cx="5394960" cy="1691640"/>
          </a:xfrm>
          <a:prstGeom prst="rect">
            <a:avLst/>
          </a:prstGeom>
          <a:solidFill>
            <a:srgbClr val="0D130C"/>
          </a:solidFill>
          <a:ln w="15875">
            <a:solidFill>
              <a:srgbClr val="5EE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0000" tIns="90000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5EE6D0"/>
                </a:solidFill>
                <a:latin typeface="Chakra Petch"/>
              </a:rPr>
              <a:t>● HOLD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7D967A"/>
                </a:solidFill>
                <a:latin typeface="Consolas"/>
              </a:rPr>
              <a:t>Ultrasonic &lt; 200mm: stop advancing, keep aiming. The no-boop guarantee.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7D967A"/>
                </a:solidFill>
                <a:latin typeface="Consolas"/>
              </a:rPr>
              <a:t>Kill switches: any IR-remote key · Ctrl+C · software callback · runtime limit. Motors stop in a finally block no matter how the loop dies.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D9A45"/>
                </a:solidFill>
                <a:latin typeface="Consolas"/>
              </a:rPr>
              <a:t>// 07 · SIMULATION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AFFE6"/>
                </a:solidFill>
                <a:latin typeface="Chakra Petch"/>
              </a:rPr>
              <a:t>PyBullet twin: crash here, not there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Digital twin  </a:t>
            </a:r>
            <a:r>
              <a:rPr sz="1300">
                <a:solidFill>
                  <a:srgbClr val="7D967A"/>
                </a:solidFill>
                <a:latin typeface="Consolas"/>
              </a:rPr>
              <a:t>same controller, simulated camera/ultrasonic/motors; a physical 'cat' box the ray-cast ultrasonic genuinely sees.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Synthetic detector  </a:t>
            </a:r>
            <a:r>
              <a:rPr sz="1300">
                <a:solidFill>
                  <a:srgbClr val="7D967A"/>
                </a:solidFill>
                <a:latin typeface="Consolas"/>
              </a:rPr>
              <a:t>projects the cat's true bearing through the camera model — validates the control loop, the part that was new.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approach scenario  </a:t>
            </a:r>
            <a:r>
              <a:rPr sz="1300">
                <a:solidFill>
                  <a:srgbClr val="7D967A"/>
                </a:solidFill>
                <a:latin typeface="Consolas"/>
              </a:rPr>
              <a:t>acquire -&gt; center -&gt; drive -&gt; HOLD @238mm, no collision ✓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search scenario  </a:t>
            </a:r>
            <a:r>
              <a:rPr sz="1300">
                <a:solidFill>
                  <a:srgbClr val="7D967A"/>
                </a:solidFill>
                <a:latin typeface="Consolas"/>
              </a:rPr>
              <a:t>out-of-frame cat -&gt; grace -&gt; spin -&gt; acquire -&gt; HOLD @231mm ✓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0" y="1737360"/>
            <a:ext cx="4572000" cy="3108960"/>
          </a:xfrm>
          <a:prstGeom prst="rect">
            <a:avLst/>
          </a:prstGeom>
          <a:solidFill>
            <a:srgbClr val="0D130C"/>
          </a:solidFill>
          <a:ln w="12700">
            <a:solidFill>
              <a:srgbClr val="223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0000" tIns="9000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3D9A45"/>
                </a:solidFill>
                <a:latin typeface="Consolas"/>
              </a:rPr>
              <a:t>TEST LEDGER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CFF5C"/>
                </a:solidFill>
                <a:latin typeface="Consolas"/>
              </a:rPr>
              <a:t>239 passed, 2 xfailed (documented)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>chase controller units          29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>dataset harvester                8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>label review tool               10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>pybullet end-to-end              2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>slam suite (inherited)         190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7D967A"/>
                </a:solidFill>
                <a:latin typeface="Consolas"/>
              </a:rPr>
              <a:t># first full-suite completion ever —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7D967A"/>
                </a:solidFill>
                <a:latin typeface="Consolas"/>
              </a:rPr>
              <a:t># an IMU deadlock had hung it forever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D9A45"/>
                </a:solidFill>
                <a:latin typeface="Consolas"/>
              </a:rPr>
              <a:t>// 08 · FIELD RESULTS · LIVE BENGAL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AFFE6"/>
                </a:solidFill>
                <a:latin typeface="Chakra Petch"/>
              </a:rPr>
              <a:t>Run 2 ended in HOLD at the actual cat</a:t>
            </a:r>
          </a:p>
        </p:txBody>
      </p:sp>
      <p:pic>
        <p:nvPicPr>
          <p:cNvPr id="4" name="Picture 3" descr="det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566160" cy="26746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034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D967A"/>
                </a:solidFill>
                <a:latin typeface="Consolas"/>
              </a:rPr>
              <a:t>LIVE CAT · EDGE ACQUISITION  </a:t>
            </a:r>
            <a:r>
              <a:rPr sz="1000" b="1">
                <a:solidFill>
                  <a:srgbClr val="6CFF5C"/>
                </a:solidFill>
                <a:latin typeface="Consolas"/>
              </a:rPr>
              <a:t>0.63</a:t>
            </a:r>
          </a:p>
        </p:txBody>
      </p:sp>
      <p:pic>
        <p:nvPicPr>
          <p:cNvPr id="6" name="Picture 5" descr="det_0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828800"/>
            <a:ext cx="3566160" cy="26746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45034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D967A"/>
                </a:solidFill>
                <a:latin typeface="Consolas"/>
              </a:rPr>
              <a:t>FINAL APPROACH  </a:t>
            </a:r>
            <a:r>
              <a:rPr sz="1000" b="1">
                <a:solidFill>
                  <a:srgbClr val="6CFF5C"/>
                </a:solidFill>
                <a:latin typeface="Consolas"/>
              </a:rPr>
              <a:t>0.53</a:t>
            </a:r>
          </a:p>
        </p:txBody>
      </p:sp>
      <p:pic>
        <p:nvPicPr>
          <p:cNvPr id="8" name="Picture 7" descr="det_01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828800"/>
            <a:ext cx="3566160" cy="26746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45034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D967A"/>
                </a:solidFill>
                <a:latin typeface="Consolas"/>
              </a:rPr>
              <a:t>POINT BLANK · COMPLETE  </a:t>
            </a:r>
            <a:r>
              <a:rPr sz="1000" b="1">
                <a:solidFill>
                  <a:srgbClr val="6CFF5C"/>
                </a:solidFill>
                <a:latin typeface="Consolas"/>
              </a:rPr>
              <a:t>0.61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7D967A"/>
                </a:solidFill>
                <a:latin typeface="Consolas"/>
              </a:rPr>
              <a:t>Two 120 s untethered WiFi runs. Auto-saved detection snapshots turned debugging from guesswork into evidence — every claim in this deck traces to a frame or a log 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D9A45"/>
                </a:solidFill>
                <a:latin typeface="Consolas"/>
              </a:rPr>
              <a:t>// 09 · THE BLOOPER REEL · WHAT THE ROBOT THOUGHT WAS A CAT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AFFE6"/>
                </a:solidFill>
                <a:latin typeface="Chakra Petch"/>
              </a:rPr>
              <a:t>Failure analysis, with receipts</a:t>
            </a:r>
          </a:p>
        </p:txBody>
      </p:sp>
      <p:pic>
        <p:nvPicPr>
          <p:cNvPr id="4" name="Picture 3" descr="det_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566160" cy="26746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034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D967A"/>
                </a:solidFill>
                <a:latin typeface="Consolas"/>
              </a:rPr>
              <a:t>TRASH CAN + MOTION BLUR  </a:t>
            </a:r>
            <a:r>
              <a:rPr sz="1000" b="1">
                <a:solidFill>
                  <a:srgbClr val="FF5470"/>
                </a:solidFill>
                <a:latin typeface="Consolas"/>
              </a:rPr>
              <a:t>0.41 ✗</a:t>
            </a:r>
          </a:p>
        </p:txBody>
      </p:sp>
      <p:pic>
        <p:nvPicPr>
          <p:cNvPr id="6" name="Picture 5" descr="det_0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828800"/>
            <a:ext cx="3566160" cy="26746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45034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D967A"/>
                </a:solidFill>
                <a:latin typeface="Consolas"/>
              </a:rPr>
              <a:t>CRUMPLED JACKET  </a:t>
            </a:r>
            <a:r>
              <a:rPr sz="1000" b="1">
                <a:solidFill>
                  <a:srgbClr val="FF5470"/>
                </a:solidFill>
                <a:latin typeface="Consolas"/>
              </a:rPr>
              <a:t>0.63 ✗</a:t>
            </a:r>
          </a:p>
        </p:txBody>
      </p:sp>
      <p:pic>
        <p:nvPicPr>
          <p:cNvPr id="8" name="Picture 7" descr="det_0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828800"/>
            <a:ext cx="3566160" cy="26746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45034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D967A"/>
                </a:solidFill>
                <a:latin typeface="Consolas"/>
              </a:rPr>
              <a:t>IPAD DECOY (intentional)  </a:t>
            </a:r>
            <a:r>
              <a:rPr sz="1000" b="1">
                <a:solidFill>
                  <a:srgbClr val="6CFF5C"/>
                </a:solidFill>
                <a:latin typeface="Consolas"/>
              </a:rPr>
              <a:t>0.62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7D967A"/>
                </a:solidFill>
                <a:latin typeface="Consolas"/>
              </a:rPr>
              <a:t>Lessons burned in: rotation blur is the enemy (spin-and-stare) · dim screens defeat decoys (max brightness) · every config threshold now cites the field frame that set it · and the "unreachable robot" was a stale WiFi profile broadcasting a dead address — trust nmcli, not the OLED.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D9A45"/>
                </a:solidFill>
                <a:latin typeface="Consolas"/>
              </a:rPr>
              <a:t>// 10 · DATASET PIPELINE · COUCH-DRIVEN ML-OPS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AFFE6"/>
                </a:solidFill>
                <a:latin typeface="Chakra Petch"/>
              </a:rPr>
              <a:t>Chase -&gt; harvest -&gt; thumb-triage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5486400" cy="3108960"/>
          </a:xfrm>
          <a:prstGeom prst="rect">
            <a:avLst/>
          </a:prstGeom>
          <a:solidFill>
            <a:srgbClr val="0D130C"/>
          </a:solidFill>
          <a:ln w="12700">
            <a:solidFill>
              <a:srgbClr val="223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0000" tIns="90000"/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3D9A45"/>
                </a:solidFill>
                <a:latin typeface="Consolas"/>
              </a:rPr>
              <a:t>PHONE WORKFLOW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C9DFC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AFFE6"/>
                </a:solidFill>
                <a:latin typeface="Consolas"/>
              </a:rPr>
              <a:t>$ ./harvest.sh    # chase + collect (&lt;=1/s dets,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7D967A"/>
                </a:solidFill>
                <a:latin typeface="Consolas"/>
              </a:rPr>
              <a:t>                  #  1/10s negatives, cap 300)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EAFFE6"/>
                </a:solidFill>
                <a:latin typeface="Consolas"/>
              </a:rPr>
              <a:t>$ ./review.sh     # triage web server :5000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C9DFC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CFF5C"/>
                </a:solidFill>
                <a:latin typeface="Consolas"/>
              </a:rPr>
              <a:t>g = Good    keep detector's box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F5470"/>
                </a:solidFill>
                <a:latin typeface="Consolas"/>
              </a:rPr>
              <a:t>n = No cat  force clean negative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FB454"/>
                </a:solidFill>
                <a:latin typeface="Consolas"/>
              </a:rPr>
              <a:t>f = Fix     route to real box editor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EE6D0"/>
                </a:solidFill>
                <a:latin typeface="Consolas"/>
              </a:rPr>
              <a:t>u = Undo    lossless, resume anytime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8288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6CFF5C"/>
                </a:solidFill>
                <a:latin typeface="Chakra Petch"/>
              </a:rPr>
              <a:t>172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7D967A"/>
                </a:solidFill>
                <a:latin typeface="Consolas"/>
              </a:rPr>
              <a:t>FRAMES TRIAGED · SESSION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18288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6CFF5C"/>
                </a:solidFill>
                <a:latin typeface="Chakra Petch"/>
              </a:rPr>
              <a:t>93%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7D967A"/>
                </a:solidFill>
                <a:latin typeface="Consolas"/>
              </a:rPr>
              <a:t>RAW DETECTOR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30175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6CFF5C"/>
                </a:solidFill>
                <a:latin typeface="Chakra Petch"/>
              </a:rPr>
              <a:t>143/29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7D967A"/>
                </a:solidFill>
                <a:latin typeface="Consolas"/>
              </a:rPr>
              <a:t>POSITIVES / NEGATIVES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30175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5EE6D0"/>
                </a:solidFill>
                <a:latin typeface="Chakra Petch"/>
              </a:rPr>
              <a:t>160·11·1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7D967A"/>
                </a:solidFill>
                <a:latin typeface="Consolas"/>
              </a:rPr>
              <a:t>GOOD · NO-CAT ·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206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7D967A"/>
                </a:solidFill>
                <a:latin typeface="Consolas"/>
              </a:rPr>
              <a:t>Verdict: the pretrained net is good enough that fine-tuning waits for ~500 varied positives. Session 1 becomes the eval set any future model must beat.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D9A45"/>
                </a:solidFill>
                <a:latin typeface="Consolas"/>
              </a:rPr>
              <a:t>// 11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AFFE6"/>
                </a:solidFill>
                <a:latin typeface="Chakra Petch"/>
              </a:rPr>
              <a:t>Next sorties + the SLAM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Pan-servo search  </a:t>
            </a:r>
            <a:r>
              <a:rPr sz="1300">
                <a:solidFill>
                  <a:srgbClr val="7D967A"/>
                </a:solidFill>
                <a:latin typeface="Consolas"/>
              </a:rPr>
              <a:t>sweep the camera, not the chassis: sharp frames, 3x coverage, zero blur. One servo-sign check away.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Exposure control  </a:t>
            </a:r>
            <a:r>
              <a:rPr sz="1300">
                <a:solidFill>
                  <a:srgbClr val="7D967A"/>
                </a:solidFill>
                <a:latin typeface="Consolas"/>
              </a:rPr>
              <a:t>shorter shutter to cut rotation blur at the source.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Lead pursuit  </a:t>
            </a:r>
            <a:r>
              <a:rPr sz="1300">
                <a:solidFill>
                  <a:srgbClr val="7D967A"/>
                </a:solidFill>
                <a:latin typeface="Consolas"/>
              </a:rPr>
              <a:t>centroid velocity prediction, for when the Bengal stops going easy.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IR kill verification  </a:t>
            </a:r>
            <a:r>
              <a:rPr sz="1300">
                <a:solidFill>
                  <a:srgbClr val="7D967A"/>
                </a:solidFill>
                <a:latin typeface="Consolas"/>
              </a:rPr>
              <a:t>the last unchecked box before unsupervised roaming.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0" y="1737360"/>
            <a:ext cx="4846320" cy="3291840"/>
          </a:xfrm>
          <a:prstGeom prst="rect">
            <a:avLst/>
          </a:prstGeom>
          <a:solidFill>
            <a:srgbClr val="0D130C"/>
          </a:solidFill>
          <a:ln w="12700">
            <a:solidFill>
              <a:srgbClr val="2233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0000" tIns="9000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3D9A45"/>
                </a:solidFill>
                <a:latin typeface="Consolas"/>
              </a:rPr>
              <a:t>SLAM CAMPAIGN (separate track)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7D967A"/>
                </a:solidFill>
                <a:latin typeface="Consolas"/>
              </a:rPr>
              <a:t>external review: no metric map possible yet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7D967A"/>
                </a:solidFill>
                <a:latin typeface="Consolas"/>
              </a:rPr>
              <a:t>(VO counts frames not metres; EKF never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7D967A"/>
                </a:solidFill>
                <a:latin typeface="Consolas"/>
              </a:rPr>
              <a:t> sees a real camera measurement)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>phase 1  honest measurement (de-anchor sim)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>phase 2  keyframe VO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FB454"/>
                </a:solidFill>
                <a:latin typeface="Consolas"/>
              </a:rPr>
              <a:t>phase 3  metric scale        &lt;- the crux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>phase 4  real EKF updates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>phase 5  IMU fusion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C9DFC2"/>
                </a:solidFill>
                <a:latin typeface="Consolas"/>
              </a:rPr>
              <a:t>phase 6  record-replay + hardware ladder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D9A45"/>
                </a:solidFill>
                <a:latin typeface="Consolas"/>
              </a:rPr>
              <a:t>// 12 · END OF TRANSMISSION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EAFFE6"/>
                </a:solidFill>
                <a:latin typeface="Chakra Petch"/>
              </a:rPr>
              <a:t>Built in two days, debugged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6CFF5C"/>
                </a:solidFill>
                <a:latin typeface="Chakra Petch"/>
              </a:rPr>
              <a:t>13+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7D967A"/>
                </a:solidFill>
                <a:latin typeface="Consolas"/>
              </a:rPr>
              <a:t>COMMITS, CLOUD + 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9202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6CFF5C"/>
                </a:solidFill>
                <a:latin typeface="Chakra Petch"/>
              </a:rPr>
              <a:t>239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7D967A"/>
                </a:solidFill>
                <a:latin typeface="Consolas"/>
              </a:rPr>
              <a:t>TESTS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6CFF5C"/>
                </a:solidFill>
                <a:latin typeface="Chakra Petch"/>
              </a:rPr>
              <a:t>15 Hz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7D967A"/>
                </a:solidFill>
                <a:latin typeface="Consolas"/>
              </a:rPr>
              <a:t>DETECTOR ON PI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19202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6CFF5C"/>
                </a:solidFill>
                <a:latin typeface="Chakra Petch"/>
              </a:rPr>
              <a:t>1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7D967A"/>
                </a:solidFill>
                <a:latin typeface="Consolas"/>
              </a:rPr>
              <a:t>CAT, CORNERED GENTLY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Stack  </a:t>
            </a:r>
            <a:r>
              <a:rPr sz="1300">
                <a:solidFill>
                  <a:srgbClr val="7D967A"/>
                </a:solidFill>
                <a:latin typeface="Consolas"/>
              </a:rPr>
              <a:t>Python · onnxruntime · OpenCV · PyBullet · Flask · one very patient Bengal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Repo  </a:t>
            </a:r>
            <a:r>
              <a:rPr sz="1300">
                <a:solidFill>
                  <a:srgbClr val="7D967A"/>
                </a:solidFill>
                <a:latin typeface="Consolas"/>
              </a:rPr>
              <a:t>github.com/peter-m-mayer/rover — catchaser/ package, full history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EAFFE6"/>
                </a:solidFill>
                <a:latin typeface="Consolas"/>
              </a:rPr>
              <a:t>▸ Method  </a:t>
            </a:r>
            <a:r>
              <a:rPr sz="1300">
                <a:solidFill>
                  <a:srgbClr val="7D967A"/>
                </a:solidFill>
                <a:latin typeface="Consolas"/>
              </a:rPr>
              <a:t>sim before hardware · telemetry before tuning · snapshots before speculation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6CFF5C"/>
                </a:solidFill>
                <a:latin typeface="Consolas"/>
              </a:rPr>
              <a:t>The cat, when reached, was found to be unbothered. Recommend continued observation.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