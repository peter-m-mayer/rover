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mp4" ContentType="video/mp4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jpg"/><Relationship Id="rId4" Type="http://schemas.openxmlformats.org/officeDocument/2006/relationships/image" Target="../media/image3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microsoft.com/office/2007/relationships/media" Target="../media/media1.mp4"/><Relationship Id="rId3" Type="http://schemas.openxmlformats.org/officeDocument/2006/relationships/video" Target="../media/media1.mp4"/><Relationship Id="rId4" Type="http://schemas.openxmlformats.org/officeDocument/2006/relationships/image" Target="../media/image4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Relationship Id="rId3" Type="http://schemas.openxmlformats.org/officeDocument/2006/relationships/image" Target="../media/image6.jpg"/><Relationship Id="rId4" Type="http://schemas.openxmlformats.org/officeDocument/2006/relationships/image" Target="../media/image7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B0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737360"/>
            <a:ext cx="1051560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6400" b="1">
                <a:solidFill>
                  <a:srgbClr val="EAFFE6"/>
                </a:solidFill>
                <a:latin typeface="Chakra Petch"/>
              </a:rPr>
              <a:t>CAT CHASER 3000</a:t>
            </a: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6CFF5C"/>
                </a:solidFill>
                <a:latin typeface="Consolas"/>
              </a:rPr>
              <a:t>An autonomous cat-pursuit robot — field report, 2026-09-05 → 07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7D967A"/>
                </a:solidFill>
                <a:latin typeface="Consolas"/>
              </a:rPr>
              <a:t>Yahboom RASPBOT-V2 · Raspberry Pi 5 · YOLOv8n/COCO · PID mecanum control · PyBullet-validated · one unimpressed Bengal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94360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3D9A45"/>
                </a:solidFill>
                <a:latin typeface="Consolas"/>
              </a:rPr>
              <a:t>PI 5 AARCH64   ·   DETECTOR 15 HZ   ·   239 TESTS GREEN   ·   CATS HARMED: 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B0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100" b="0">
                <a:solidFill>
                  <a:srgbClr val="3D9A45"/>
                </a:solidFill>
                <a:latin typeface="Consolas"/>
              </a:rPr>
              <a:t>// 01 · MISSION 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3400" b="1">
                <a:solidFill>
                  <a:srgbClr val="EAFFE6"/>
                </a:solidFill>
                <a:latin typeface="Chakra Petch"/>
              </a:rPr>
              <a:t>One loop, five links, zero mercy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737360"/>
            <a:ext cx="10881360" cy="3291840"/>
          </a:xfrm>
          <a:prstGeom prst="rect">
            <a:avLst/>
          </a:prstGeom>
          <a:solidFill>
            <a:srgbClr val="0D130C"/>
          </a:solidFill>
          <a:ln w="12700">
            <a:solidFill>
              <a:srgbClr val="22331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0000" tIns="90000"/>
          <a:lstStyle/>
          <a:p>
            <a:pPr algn="ctr">
              <a:spcAft>
                <a:spcPts val="200"/>
              </a:spcAft>
            </a:pPr>
            <a:r>
              <a:rPr sz="1300">
                <a:solidFill>
                  <a:srgbClr val="EAFFE6"/>
                </a:solidFill>
                <a:latin typeface="Consolas"/>
              </a:rPr>
              <a:t>camera 640x480 BGR</a:t>
            </a:r>
          </a:p>
          <a:p>
            <a:pPr>
              <a:spcAft>
                <a:spcPts val="200"/>
              </a:spcAft>
            </a:pPr>
            <a:r>
              <a:rPr sz="1300">
                <a:solidFill>
                  <a:srgbClr val="7D967A"/>
                </a:solidFill>
                <a:latin typeface="Consolas"/>
              </a:rPr>
              <a:t>   |</a:t>
            </a:r>
          </a:p>
          <a:p>
            <a:pPr>
              <a:spcAft>
                <a:spcPts val="200"/>
              </a:spcAft>
            </a:pPr>
            <a:r>
              <a:rPr sz="1300">
                <a:solidFill>
                  <a:srgbClr val="6CFF5C"/>
                </a:solidFill>
                <a:latin typeface="Consolas"/>
              </a:rPr>
              <a:t>YOLOv8n ONNX @320px  -&gt;  cat boxes (COCO class 15), conf &gt;= 0.50</a:t>
            </a:r>
          </a:p>
          <a:p>
            <a:pPr>
              <a:spcAft>
                <a:spcPts val="200"/>
              </a:spcAft>
            </a:pPr>
            <a:r>
              <a:rPr sz="1300">
                <a:solidFill>
                  <a:srgbClr val="7D967A"/>
                </a:solidFill>
                <a:latin typeface="Consolas"/>
              </a:rPr>
              <a:t>   |</a:t>
            </a:r>
          </a:p>
          <a:p>
            <a:pPr>
              <a:spcAft>
                <a:spcPts val="200"/>
              </a:spcAft>
            </a:pPr>
            <a:r>
              <a:rPr sz="1300">
                <a:solidFill>
                  <a:srgbClr val="EAFFE6"/>
                </a:solidFill>
                <a:latin typeface="Consolas"/>
              </a:rPr>
              <a:t>centroid -&gt; heading error     err = (cx - W/2)/(W/2)  in [-1, +1]</a:t>
            </a:r>
          </a:p>
          <a:p>
            <a:pPr>
              <a:spcAft>
                <a:spcPts val="200"/>
              </a:spcAft>
            </a:pPr>
            <a:r>
              <a:rPr sz="1300">
                <a:solidFill>
                  <a:srgbClr val="7D967A"/>
                </a:solidFill>
                <a:latin typeface="Consolas"/>
              </a:rPr>
              <a:t>   |</a:t>
            </a:r>
          </a:p>
          <a:p>
            <a:pPr>
              <a:spcAft>
                <a:spcPts val="200"/>
              </a:spcAft>
            </a:pPr>
            <a:r>
              <a:rPr sz="1300">
                <a:solidFill>
                  <a:srgbClr val="6CFF5C"/>
                </a:solidFill>
                <a:latin typeface="Consolas"/>
              </a:rPr>
              <a:t>PID (KP=40 KI=0 KD=6, hardware-calibrated)  -&gt;  turn</a:t>
            </a:r>
          </a:p>
          <a:p>
            <a:pPr>
              <a:spcAft>
                <a:spcPts val="200"/>
              </a:spcAft>
            </a:pPr>
            <a:r>
              <a:rPr sz="1300">
                <a:solidFill>
                  <a:srgbClr val="7D967A"/>
                </a:solidFill>
                <a:latin typeface="Consolas"/>
              </a:rPr>
              <a:t>   |</a:t>
            </a:r>
          </a:p>
          <a:p>
            <a:pPr>
              <a:spcAft>
                <a:spcPts val="200"/>
              </a:spcAft>
            </a:pPr>
            <a:r>
              <a:rPr sz="1300">
                <a:solidFill>
                  <a:srgbClr val="EAFFE6"/>
                </a:solidFill>
                <a:latin typeface="Consolas"/>
              </a:rPr>
              <a:t>mecanum mix  drive(forward, turn)  -&gt;  4 wheel speeds, cap 120</a:t>
            </a:r>
          </a:p>
          <a:p>
            <a:pPr>
              <a:spcAft>
                <a:spcPts val="200"/>
              </a:spcAft>
            </a:pPr>
            <a:r>
              <a:rPr sz="1300">
                <a:solidFill>
                  <a:srgbClr val="7D967A"/>
                </a:solidFill>
                <a:latin typeface="Consolas"/>
              </a:rPr>
              <a:t>   |</a:t>
            </a:r>
          </a:p>
          <a:p>
            <a:pPr>
              <a:spcAft>
                <a:spcPts val="200"/>
              </a:spcAft>
            </a:pPr>
            <a:r>
              <a:rPr sz="1300">
                <a:solidFill>
                  <a:srgbClr val="FFB454"/>
                </a:solidFill>
                <a:latin typeface="Consolas"/>
              </a:rPr>
              <a:t>safety: ultrasonic HOLD @200mm · IR kill · Ctrl+C · runtime limit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303520"/>
            <a:ext cx="10881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0">
                <a:solidFill>
                  <a:srgbClr val="7D967A"/>
                </a:solidFill>
                <a:latin typeface="Consolas"/>
              </a:rPr>
              <a:t>Same controller runs on real hardware and the PyBullet twin — the sim caught the design bugs, the carpet caught the physics bugs.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B0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100" b="0">
                <a:solidFill>
                  <a:srgbClr val="3D9A45"/>
                </a:solidFill>
                <a:latin typeface="Consolas"/>
              </a:rPr>
              <a:t>// 02 · THE PLATFORM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3400" b="1">
                <a:solidFill>
                  <a:srgbClr val="EAFFE6"/>
                </a:solidFill>
                <a:latin typeface="Chakra Petch"/>
              </a:rPr>
              <a:t>Yahboom RASPBOT-V2 + Raspberry Pi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737360"/>
            <a:ext cx="60350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300" b="1">
                <a:solidFill>
                  <a:srgbClr val="EAFFE6"/>
                </a:solidFill>
                <a:latin typeface="Consolas"/>
              </a:rPr>
              <a:t>▸ Compute  </a:t>
            </a:r>
            <a:r>
              <a:rPr sz="1300">
                <a:solidFill>
                  <a:srgbClr val="7D967A"/>
                </a:solidFill>
                <a:latin typeface="Consolas"/>
              </a:rPr>
              <a:t>Pi 5 Model B rev 1.1 · aarch64 · Python 3.11</a:t>
            </a:r>
          </a:p>
          <a:p>
            <a:pPr>
              <a:spcAft>
                <a:spcPts val="1000"/>
              </a:spcAft>
            </a:pPr>
            <a:r>
              <a:rPr sz="1300" b="1">
                <a:solidFill>
                  <a:srgbClr val="EAFFE6"/>
                </a:solidFill>
                <a:latin typeface="Consolas"/>
              </a:rPr>
              <a:t>▸ MCU bridge  </a:t>
            </a:r>
            <a:r>
              <a:rPr sz="1300">
                <a:solidFill>
                  <a:srgbClr val="7D967A"/>
                </a:solidFill>
                <a:latin typeface="Consolas"/>
              </a:rPr>
              <a:t>I2C bus 1 @ 0x2B — motors, servos, LEDs, buzzer</a:t>
            </a:r>
          </a:p>
          <a:p>
            <a:pPr>
              <a:spcAft>
                <a:spcPts val="1000"/>
              </a:spcAft>
            </a:pPr>
            <a:r>
              <a:rPr sz="1300" b="1">
                <a:solidFill>
                  <a:srgbClr val="EAFFE6"/>
                </a:solidFill>
                <a:latin typeface="Consolas"/>
              </a:rPr>
              <a:t>▸ Drive  </a:t>
            </a:r>
            <a:r>
              <a:rPr sz="1300">
                <a:solidFill>
                  <a:srgbClr val="7D967A"/>
                </a:solidFill>
                <a:latin typeface="Consolas"/>
              </a:rPr>
              <a:t>4x mecanum wheels, ±255, no encoders — "motor commands are suggestions"</a:t>
            </a:r>
          </a:p>
          <a:p>
            <a:pPr>
              <a:spcAft>
                <a:spcPts val="1000"/>
              </a:spcAft>
            </a:pPr>
            <a:r>
              <a:rPr sz="1300" b="1">
                <a:solidFill>
                  <a:srgbClr val="EAFFE6"/>
                </a:solidFill>
                <a:latin typeface="Consolas"/>
              </a:rPr>
              <a:t>▸ Camera  </a:t>
            </a:r>
            <a:r>
              <a:rPr sz="1300">
                <a:solidFill>
                  <a:srgbClr val="7D967A"/>
                </a:solidFill>
                <a:latin typeface="Consolas"/>
              </a:rPr>
              <a:t>USB 640x480, fixed focus (~0.4 m to infinity)</a:t>
            </a:r>
          </a:p>
          <a:p>
            <a:pPr>
              <a:spcAft>
                <a:spcPts val="1000"/>
              </a:spcAft>
            </a:pPr>
            <a:r>
              <a:rPr sz="1300" b="1">
                <a:solidFill>
                  <a:srgbClr val="EAFFE6"/>
                </a:solidFill>
                <a:latin typeface="Consolas"/>
              </a:rPr>
              <a:t>▸ Ranging  </a:t>
            </a:r>
            <a:r>
              <a:rPr sz="1300">
                <a:solidFill>
                  <a:srgbClr val="7D967A"/>
                </a:solidFill>
                <a:latin typeface="Consolas"/>
              </a:rPr>
              <a:t>forward ultrasonic, mm resolution</a:t>
            </a:r>
          </a:p>
          <a:p>
            <a:pPr>
              <a:spcAft>
                <a:spcPts val="1000"/>
              </a:spcAft>
            </a:pPr>
            <a:r>
              <a:rPr sz="1300" b="1">
                <a:solidFill>
                  <a:srgbClr val="EAFFE6"/>
                </a:solidFill>
                <a:latin typeface="Consolas"/>
              </a:rPr>
              <a:t>▸ Status  </a:t>
            </a:r>
            <a:r>
              <a:rPr sz="1300">
                <a:solidFill>
                  <a:srgbClr val="7D967A"/>
                </a:solidFill>
                <a:latin typeface="Consolas"/>
              </a:rPr>
              <a:t>14x WS2812B LEDs + buzzer + IR remote (kill switch)</a:t>
            </a:r>
          </a:p>
        </p:txBody>
      </p:sp>
      <p:sp>
        <p:nvSpPr>
          <p:cNvPr id="5" name="Rectangle 4"/>
          <p:cNvSpPr/>
          <p:nvPr/>
        </p:nvSpPr>
        <p:spPr>
          <a:xfrm>
            <a:off x="6949440" y="1737360"/>
            <a:ext cx="4663440" cy="2651760"/>
          </a:xfrm>
          <a:prstGeom prst="rect">
            <a:avLst/>
          </a:prstGeom>
          <a:solidFill>
            <a:srgbClr val="0D130C"/>
          </a:solidFill>
          <a:ln w="12700">
            <a:solidFill>
              <a:srgbClr val="22331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0000" tIns="90000"/>
          <a:lstStyle/>
          <a:p>
            <a:pPr algn="ctr">
              <a:spcAft>
                <a:spcPts val="200"/>
              </a:spcAft>
            </a:pPr>
            <a:r>
              <a:rPr sz="1100">
                <a:solidFill>
                  <a:srgbClr val="3D9A45"/>
                </a:solidFill>
                <a:latin typeface="Consolas"/>
              </a:rPr>
              <a:t>vendor API archaeology (on-device):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C9DFC2"/>
                </a:solidFill>
                <a:latin typeface="Consolas"/>
              </a:rPr>
              <a:t/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FF5470"/>
                </a:solidFill>
                <a:latin typeface="Consolas"/>
              </a:rPr>
              <a:t>docs promised:   Ctrl_WS2812B(id, r, g, b)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6CFF5C"/>
                </a:solidFill>
                <a:latin typeface="Consolas"/>
              </a:rPr>
              <a:t>hardware ships:  Ctrl_WQ2812_ALL(state, idx)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7D967A"/>
                </a:solidFill>
                <a:latin typeface="Consolas"/>
              </a:rPr>
              <a:t>                 red=0 green=1 blue=2 yellow=3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6CFF5C"/>
                </a:solidFill>
                <a:latin typeface="Consolas"/>
              </a:rPr>
              <a:t>buzzer:          Ctrl_BEEP_Switch(state)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6CFF5C"/>
                </a:solidFill>
                <a:latin typeface="Consolas"/>
              </a:rPr>
              <a:t>IR idle byte:    0xFF  (not 0 — kill switch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7D967A"/>
                </a:solidFill>
                <a:latin typeface="Consolas"/>
              </a:rPr>
              <a:t>                 fired instantly until fixed)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B0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100" b="0">
                <a:solidFill>
                  <a:srgbClr val="3D9A45"/>
                </a:solidFill>
                <a:latin typeface="Consolas"/>
              </a:rPr>
              <a:t>// 03 · THE NEURAL NET · PROVENANCE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3400" b="1">
                <a:solidFill>
                  <a:srgbClr val="EAFFE6"/>
                </a:solidFill>
                <a:latin typeface="Chakra Petch"/>
              </a:rPr>
              <a:t>YOLOv8-nano, COCO-raised, cat-filtered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737360"/>
            <a:ext cx="61264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300" b="1">
                <a:solidFill>
                  <a:srgbClr val="EAFFE6"/>
                </a:solidFill>
                <a:latin typeface="Consolas"/>
              </a:rPr>
              <a:t>▸ Origin  </a:t>
            </a:r>
            <a:r>
              <a:rPr sz="1300">
                <a:solidFill>
                  <a:srgbClr val="7D967A"/>
                </a:solidFill>
                <a:latin typeface="Consolas"/>
              </a:rPr>
              <a:t>Ultralytics YOLOv8n, pretrained on COCO 2017 (118k images, 80 classes). We keep exactly one: class 15, cat.</a:t>
            </a:r>
          </a:p>
          <a:p>
            <a:pPr>
              <a:spcAft>
                <a:spcPts val="1000"/>
              </a:spcAft>
            </a:pPr>
            <a:r>
              <a:rPr sz="1300" b="1">
                <a:solidFill>
                  <a:srgbClr val="EAFFE6"/>
                </a:solidFill>
                <a:latin typeface="Consolas"/>
              </a:rPr>
              <a:t>▸ Export  </a:t>
            </a:r>
            <a:r>
              <a:rPr sz="1300">
                <a:solidFill>
                  <a:srgbClr val="7D967A"/>
                </a:solidFill>
                <a:latin typeface="Consolas"/>
              </a:rPr>
              <a:t>yolov8n.pt -&gt; ONNX · 320px input · opset 12 · simplified · 12.1 MB · ~3.2M params</a:t>
            </a:r>
          </a:p>
          <a:p>
            <a:pPr>
              <a:spcAft>
                <a:spcPts val="1000"/>
              </a:spcAft>
            </a:pPr>
            <a:r>
              <a:rPr sz="1300" b="1">
                <a:solidFill>
                  <a:srgbClr val="EAFFE6"/>
                </a:solidFill>
                <a:latin typeface="Consolas"/>
              </a:rPr>
              <a:t>▸ Runtime  </a:t>
            </a:r>
            <a:r>
              <a:rPr sz="1300">
                <a:solidFill>
                  <a:srgbClr val="7D967A"/>
                </a:solidFill>
                <a:latin typeface="Consolas"/>
              </a:rPr>
              <a:t>pure onnxruntime + OpenCV on the robot — no ultralytics, no torch. Letterbox -&gt; NCHW -&gt; NMS in ~150 lines.</a:t>
            </a:r>
          </a:p>
          <a:p>
            <a:pPr>
              <a:spcAft>
                <a:spcPts val="1000"/>
              </a:spcAft>
            </a:pPr>
            <a:r>
              <a:rPr sz="1300" b="1">
                <a:solidFill>
                  <a:srgbClr val="EAFFE6"/>
                </a:solidFill>
                <a:latin typeface="Consolas"/>
              </a:rPr>
              <a:t>▸ Threshold  </a:t>
            </a:r>
            <a:r>
              <a:rPr sz="1300">
                <a:solidFill>
                  <a:srgbClr val="7D967A"/>
                </a:solidFill>
                <a:latin typeface="Consolas"/>
              </a:rPr>
              <a:t>conf &gt;= 0.50, field-calibrated: real cat always &gt;= 0.53, false positives 0.41–0.45</a:t>
            </a:r>
          </a:p>
          <a:p>
            <a:pPr>
              <a:spcAft>
                <a:spcPts val="1000"/>
              </a:spcAft>
            </a:pPr>
            <a:r>
              <a:rPr sz="1300" b="1">
                <a:solidFill>
                  <a:srgbClr val="EAFFE6"/>
                </a:solidFill>
                <a:latin typeface="Consolas"/>
              </a:rPr>
              <a:t>▸ Fine-tune?  </a:t>
            </a:r>
            <a:r>
              <a:rPr sz="1300">
                <a:solidFill>
                  <a:srgbClr val="7D967A"/>
                </a:solidFill>
                <a:latin typeface="Consolas"/>
              </a:rPr>
              <a:t>Not yet — 99.5% precision over 244 triaged frames, 0 false positives. Pipeline ready.</a:t>
            </a:r>
          </a:p>
        </p:txBody>
      </p:sp>
      <p:sp>
        <p:nvSpPr>
          <p:cNvPr id="5" name="Rectangle 4"/>
          <p:cNvSpPr/>
          <p:nvPr/>
        </p:nvSpPr>
        <p:spPr>
          <a:xfrm>
            <a:off x="7040880" y="1737360"/>
            <a:ext cx="4572000" cy="2651760"/>
          </a:xfrm>
          <a:prstGeom prst="rect">
            <a:avLst/>
          </a:prstGeom>
          <a:solidFill>
            <a:srgbClr val="0D130C"/>
          </a:solidFill>
          <a:ln w="12700">
            <a:solidFill>
              <a:srgbClr val="22331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0000" tIns="90000"/>
          <a:lstStyle/>
          <a:p>
            <a:pPr algn="ctr">
              <a:spcAft>
                <a:spcPts val="200"/>
              </a:spcAft>
            </a:pPr>
            <a:r>
              <a:rPr sz="1100">
                <a:solidFill>
                  <a:srgbClr val="3D9A45"/>
                </a:solidFill>
                <a:latin typeface="Consolas"/>
              </a:rPr>
              <a:t>VALIDATION LADDER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C9DFC2"/>
                </a:solidFill>
                <a:latin typeface="Consolas"/>
              </a:rPr>
              <a:t/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C9DFC2"/>
                </a:solidFill>
                <a:latin typeface="Consolas"/>
              </a:rPr>
              <a:t>x86 sanity    real-cat photo    conf 0.94  ✓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C9DFC2"/>
                </a:solidFill>
                <a:latin typeface="Consolas"/>
              </a:rPr>
              <a:t>x86 bench     21 ms/frame       47 Hz      ✓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6CFF5C"/>
                </a:solidFill>
                <a:latin typeface="Consolas"/>
              </a:rPr>
              <a:t>pi5 bench     54 ms inference   16.6 Hz    ✓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6CFF5C"/>
                </a:solidFill>
                <a:latin typeface="Consolas"/>
              </a:rPr>
              <a:t>pi5+camera    66 ms end-to-end  15.1 Hz    ✓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6CFF5C"/>
                </a:solidFill>
                <a:latin typeface="Consolas"/>
              </a:rPr>
              <a:t>field         live Bengal @3m   conf 0.63  ✓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5EE6D0"/>
                </a:solidFill>
                <a:latin typeface="Consolas"/>
              </a:rPr>
              <a:t>target        &gt;= 1 Hz           15x margin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B0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100" b="0">
                <a:solidFill>
                  <a:srgbClr val="3D9A45"/>
                </a:solidFill>
                <a:latin typeface="Consolas"/>
              </a:rPr>
              <a:t>// 04 · THE RASPBERRY PI 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3400" b="1">
                <a:solidFill>
                  <a:srgbClr val="EAFFE6"/>
                </a:solidFill>
                <a:latin typeface="Chakra Petch"/>
              </a:rPr>
              <a:t>Dependency minefield, cleared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737360"/>
            <a:ext cx="60350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300" b="1">
                <a:solidFill>
                  <a:srgbClr val="EAFFE6"/>
                </a:solidFill>
                <a:latin typeface="Consolas"/>
              </a:rPr>
              <a:t>▸ cv2 corrupted on arrival  </a:t>
            </a:r>
            <a:r>
              <a:rPr sz="1300">
                <a:solidFill>
                  <a:srgbClr val="7D967A"/>
                </a:solidFill>
                <a:latin typeface="Consolas"/>
              </a:rPr>
              <a:t>ImportError naming a library called 'y'; ldd showed garbage ELF entries. Damaged binary + dueling opencv installs.</a:t>
            </a:r>
          </a:p>
          <a:p>
            <a:pPr>
              <a:spcAft>
                <a:spcPts val="1000"/>
              </a:spcAft>
            </a:pPr>
            <a:r>
              <a:rPr sz="1300" b="1">
                <a:solidFill>
                  <a:srgbClr val="EAFFE6"/>
                </a:solidFill>
                <a:latin typeface="Consolas"/>
              </a:rPr>
              <a:t>▸ The pin matrix  </a:t>
            </a:r>
            <a:r>
              <a:rPr sz="1300">
                <a:solidFill>
                  <a:srgbClr val="7D967A"/>
                </a:solidFill>
                <a:latin typeface="Consolas"/>
              </a:rPr>
              <a:t>onnxruntime 1.18.1 needs numpy&lt;2; opencv 5.x drags in numpy 2.4. Landed: numpy 1.26.4 + opencv-headless 4.11 + ort 1.18.1.</a:t>
            </a:r>
          </a:p>
          <a:p>
            <a:pPr>
              <a:spcAft>
                <a:spcPts val="1000"/>
              </a:spcAft>
            </a:pPr>
            <a:r>
              <a:rPr sz="1300" b="1">
                <a:solidFill>
                  <a:srgbClr val="EAFFE6"/>
                </a:solidFill>
                <a:latin typeface="Consolas"/>
              </a:rPr>
              <a:t>▸ 64-bit dividend  </a:t>
            </a:r>
            <a:r>
              <a:rPr sz="1300">
                <a:solidFill>
                  <a:srgbClr val="7D967A"/>
                </a:solidFill>
                <a:latin typeface="Consolas"/>
              </a:rPr>
              <a:t>aarch64 confirmed on-device -&gt; onnxruntime wheels just work; the feared Pi-3/TFLite fallback never happened.</a:t>
            </a:r>
          </a:p>
        </p:txBody>
      </p:sp>
      <p:sp>
        <p:nvSpPr>
          <p:cNvPr id="5" name="Rectangle 4"/>
          <p:cNvSpPr/>
          <p:nvPr/>
        </p:nvSpPr>
        <p:spPr>
          <a:xfrm>
            <a:off x="6949440" y="1737360"/>
            <a:ext cx="4663440" cy="2651760"/>
          </a:xfrm>
          <a:prstGeom prst="rect">
            <a:avLst/>
          </a:prstGeom>
          <a:solidFill>
            <a:srgbClr val="0D130C"/>
          </a:solidFill>
          <a:ln w="12700">
            <a:solidFill>
              <a:srgbClr val="22331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0000" tIns="90000"/>
          <a:lstStyle/>
          <a:p>
            <a:pPr algn="ctr">
              <a:spcAft>
                <a:spcPts val="200"/>
              </a:spcAft>
            </a:pPr>
            <a:r>
              <a:rPr sz="1100">
                <a:solidFill>
                  <a:srgbClr val="3D9A45"/>
                </a:solidFill>
                <a:latin typeface="Consolas"/>
              </a:rPr>
              <a:t>PI 5 BENCHMARK · catchaser.benchmark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C9DFC2"/>
                </a:solidFill>
                <a:latin typeface="Consolas"/>
              </a:rPr>
              <a:t/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EAFFE6"/>
                </a:solidFill>
                <a:latin typeface="Consolas"/>
              </a:rPr>
              <a:t>mode              inference   e2e      rate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C9DFC2"/>
                </a:solidFill>
                <a:latin typeface="Consolas"/>
              </a:rPr>
              <a:t>synthetic frame   54.1 ms     60.3 ms  16.6 Hz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6CFF5C"/>
                </a:solidFill>
                <a:latin typeface="Consolas"/>
              </a:rPr>
              <a:t>camera in loop    57.2 ms     66.2 ms  15.1 Hz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C9DFC2"/>
                </a:solidFill>
                <a:latin typeface="Consolas"/>
              </a:rPr>
              <a:t>--threads 4       56.1 ms     —        15.9 Hz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C9DFC2"/>
                </a:solidFill>
                <a:latin typeface="Consolas"/>
              </a:rPr>
              <a:t/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7D967A"/>
                </a:solidFill>
                <a:latin typeface="Consolas"/>
              </a:rPr>
              <a:t># auto-threading already optimal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7D967A"/>
                </a:solidFill>
                <a:latin typeface="Consolas"/>
              </a:rPr>
              <a:t># x86 -&gt; pi5 scaling factor: x2.6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B0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100" b="0">
                <a:solidFill>
                  <a:srgbClr val="3D9A45"/>
                </a:solidFill>
                <a:latin typeface="Consolas"/>
              </a:rPr>
              <a:t>// 05 · MOTION CONTROL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3400" b="1">
                <a:solidFill>
                  <a:srgbClr val="EAFFE6"/>
                </a:solidFill>
                <a:latin typeface="Chakra Petch"/>
              </a:rPr>
              <a:t>Mecanum math + a PID tamed by telemetry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737360"/>
            <a:ext cx="5669280" cy="2926080"/>
          </a:xfrm>
          <a:prstGeom prst="rect">
            <a:avLst/>
          </a:prstGeom>
          <a:solidFill>
            <a:srgbClr val="0D130C"/>
          </a:solidFill>
          <a:ln w="12700">
            <a:solidFill>
              <a:srgbClr val="22331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0000" tIns="90000"/>
          <a:lstStyle/>
          <a:p>
            <a:pPr algn="ctr">
              <a:spcAft>
                <a:spcPts val="200"/>
              </a:spcAft>
            </a:pPr>
            <a:r>
              <a:rPr sz="1200">
                <a:solidFill>
                  <a:srgbClr val="7D967A"/>
                </a:solidFill>
                <a:latin typeface="Consolas"/>
              </a:rPr>
              <a:t># wheel mix — forward, clockwise turn, strafe</a:t>
            </a:r>
          </a:p>
          <a:p>
            <a:pPr>
              <a:spcAft>
                <a:spcPts val="200"/>
              </a:spcAft>
            </a:pPr>
            <a:r>
              <a:rPr sz="1200">
                <a:solidFill>
                  <a:srgbClr val="EAFFE6"/>
                </a:solidFill>
                <a:latin typeface="Consolas"/>
              </a:rPr>
              <a:t>l1 = forward + strafe + turn    # front-left</a:t>
            </a:r>
          </a:p>
          <a:p>
            <a:pPr>
              <a:spcAft>
                <a:spcPts val="200"/>
              </a:spcAft>
            </a:pPr>
            <a:r>
              <a:rPr sz="1200">
                <a:solidFill>
                  <a:srgbClr val="EAFFE6"/>
                </a:solidFill>
                <a:latin typeface="Consolas"/>
              </a:rPr>
              <a:t>l2 = forward - strafe + turn    # rear-left</a:t>
            </a:r>
          </a:p>
          <a:p>
            <a:pPr>
              <a:spcAft>
                <a:spcPts val="200"/>
              </a:spcAft>
            </a:pPr>
            <a:r>
              <a:rPr sz="1200">
                <a:solidFill>
                  <a:srgbClr val="EAFFE6"/>
                </a:solidFill>
                <a:latin typeface="Consolas"/>
              </a:rPr>
              <a:t>r1 = forward - strafe - turn    # front-right</a:t>
            </a:r>
          </a:p>
          <a:p>
            <a:pPr>
              <a:spcAft>
                <a:spcPts val="200"/>
              </a:spcAft>
            </a:pPr>
            <a:r>
              <a:rPr sz="1200">
                <a:solidFill>
                  <a:srgbClr val="EAFFE6"/>
                </a:solidFill>
                <a:latin typeface="Consolas"/>
              </a:rPr>
              <a:t>r2 = forward + strafe - turn    # rear-right</a:t>
            </a:r>
          </a:p>
          <a:p>
            <a:pPr>
              <a:spcAft>
                <a:spcPts val="200"/>
              </a:spcAft>
            </a:pPr>
            <a:r>
              <a:rPr sz="1200">
                <a:solidFill>
                  <a:srgbClr val="C9DFC2"/>
                </a:solidFill>
                <a:latin typeface="Consolas"/>
              </a:rPr>
              <a:t/>
            </a:r>
          </a:p>
          <a:p>
            <a:pPr>
              <a:spcAft>
                <a:spcPts val="200"/>
              </a:spcAft>
            </a:pPr>
            <a:r>
              <a:rPr sz="1200">
                <a:solidFill>
                  <a:srgbClr val="6CFF5C"/>
                </a:solidFill>
                <a:latin typeface="Consolas"/>
              </a:rPr>
              <a:t>err  = (cat.cx - W/2) / (W/2)   # normalized</a:t>
            </a:r>
          </a:p>
          <a:p>
            <a:pPr>
              <a:spcAft>
                <a:spcPts val="200"/>
              </a:spcAft>
            </a:pPr>
            <a:r>
              <a:rPr sz="1200">
                <a:solidFill>
                  <a:srgbClr val="6CFF5C"/>
                </a:solidFill>
                <a:latin typeface="Consolas"/>
              </a:rPr>
              <a:t>turn = KP*err + KD*d_err        # KP 80 -&gt; 40</a:t>
            </a:r>
          </a:p>
          <a:p>
            <a:pPr>
              <a:spcAft>
                <a:spcPts val="200"/>
              </a:spcAft>
            </a:pPr>
            <a:r>
              <a:rPr sz="1200">
                <a:solidFill>
                  <a:srgbClr val="6CFF5C"/>
                </a:solidFill>
                <a:latin typeface="Consolas"/>
              </a:rPr>
              <a:t>fwd *= clamp((us-200)/400, .35, 1)  # taper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0" y="1737360"/>
            <a:ext cx="5029200" cy="2926080"/>
          </a:xfrm>
          <a:prstGeom prst="rect">
            <a:avLst/>
          </a:prstGeom>
          <a:solidFill>
            <a:srgbClr val="0D130C"/>
          </a:solidFill>
          <a:ln w="12700">
            <a:solidFill>
              <a:srgbClr val="22331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0000" tIns="90000"/>
          <a:lstStyle/>
          <a:p>
            <a:pPr algn="ctr">
              <a:spcAft>
                <a:spcPts val="200"/>
              </a:spcAft>
            </a:pPr>
            <a:r>
              <a:rPr sz="1100">
                <a:solidFill>
                  <a:srgbClr val="3D9A45"/>
                </a:solidFill>
                <a:latin typeface="Consolas"/>
              </a:rPr>
              <a:t>THE OVERSHOOT, CAUGHT IN TELEMETRY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C9DFC2"/>
                </a:solidFill>
                <a:latin typeface="Consolas"/>
              </a:rPr>
              <a:t/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C9DFC2"/>
                </a:solidFill>
                <a:latin typeface="Consolas"/>
              </a:rPr>
              <a:t>f0582 TRACKING err=+0.38 turn=+44.4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FFB454"/>
                </a:solidFill>
                <a:latin typeface="Consolas"/>
              </a:rPr>
              <a:t>f0586 TRACKING err=-0.27 turn=-31.8  &lt;- flipped!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FF5470"/>
                </a:solidFill>
                <a:latin typeface="Consolas"/>
              </a:rPr>
              <a:t>f0588 LOST     ...and the cat is gone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C9DFC2"/>
                </a:solidFill>
                <a:latin typeface="Consolas"/>
              </a:rPr>
              <a:t/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7D967A"/>
                </a:solidFill>
                <a:latin typeface="Consolas"/>
              </a:rPr>
              <a:t>sim said KP=80; the carpet said KP=40.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7D967A"/>
                </a:solidFill>
                <a:latin typeface="Consolas"/>
              </a:rPr>
              <a:t>plus: D-term now needs 2 tracked frames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7D967A"/>
                </a:solidFill>
                <a:latin typeface="Consolas"/>
              </a:rPr>
              <a:t>(fresh-acquisition kick was a bug)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B0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100" b="0">
                <a:solidFill>
                  <a:srgbClr val="3D9A45"/>
                </a:solidFill>
                <a:latin typeface="Consolas"/>
              </a:rPr>
              <a:t>// 06 · BEHAVIOR STATE MACHINE · LED = MOOD RING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3400" b="1">
                <a:solidFill>
                  <a:srgbClr val="EAFFE6"/>
                </a:solidFill>
                <a:latin typeface="Chakra Petch"/>
              </a:rPr>
              <a:t>Four states, visible from the couch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737360"/>
            <a:ext cx="5394960" cy="1691640"/>
          </a:xfrm>
          <a:prstGeom prst="rect">
            <a:avLst/>
          </a:prstGeom>
          <a:solidFill>
            <a:srgbClr val="0D130C"/>
          </a:solidFill>
          <a:ln w="15875">
            <a:solidFill>
              <a:srgbClr val="6CFF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0000" tIns="90000"/>
          <a:lstStyle/>
          <a:p>
            <a:pPr algn="ctr">
              <a:spcAft>
                <a:spcPts val="600"/>
              </a:spcAft>
            </a:pPr>
            <a:r>
              <a:rPr sz="1500" b="1">
                <a:solidFill>
                  <a:srgbClr val="6CFF5C"/>
                </a:solidFill>
                <a:latin typeface="Chakra Petch"/>
              </a:rPr>
              <a:t>● TRACKING</a:t>
            </a:r>
          </a:p>
          <a:p>
            <a:pPr>
              <a:spcAft>
                <a:spcPts val="600"/>
              </a:spcAft>
            </a:pPr>
            <a:r>
              <a:rPr sz="1100" b="0">
                <a:solidFill>
                  <a:srgbClr val="7D967A"/>
                </a:solidFill>
                <a:latin typeface="Consolas"/>
              </a:rPr>
              <a:t>Cat in frame: steer to center, drive forward. Full speed centered; turn-in-place past |err| 0.5; deadband ±0.06.</a:t>
            </a:r>
          </a:p>
        </p:txBody>
      </p:sp>
      <p:sp>
        <p:nvSpPr>
          <p:cNvPr id="5" name="Rectangle 4"/>
          <p:cNvSpPr/>
          <p:nvPr/>
        </p:nvSpPr>
        <p:spPr>
          <a:xfrm>
            <a:off x="6309360" y="1737360"/>
            <a:ext cx="5394960" cy="1691640"/>
          </a:xfrm>
          <a:prstGeom prst="rect">
            <a:avLst/>
          </a:prstGeom>
          <a:solidFill>
            <a:srgbClr val="0D130C"/>
          </a:solidFill>
          <a:ln w="15875">
            <a:solidFill>
              <a:srgbClr val="FFB4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0000" tIns="90000"/>
          <a:lstStyle/>
          <a:p>
            <a:pPr algn="ctr">
              <a:spcAft>
                <a:spcPts val="600"/>
              </a:spcAft>
            </a:pPr>
            <a:r>
              <a:rPr sz="1500" b="1">
                <a:solidFill>
                  <a:srgbClr val="FFB454"/>
                </a:solidFill>
                <a:latin typeface="Chakra Petch"/>
              </a:rPr>
              <a:t>● LOST</a:t>
            </a:r>
          </a:p>
          <a:p>
            <a:pPr>
              <a:spcAft>
                <a:spcPts val="600"/>
              </a:spcAft>
            </a:pPr>
            <a:r>
              <a:rPr sz="1100" b="0">
                <a:solidFill>
                  <a:srgbClr val="7D967A"/>
                </a:solidFill>
                <a:latin typeface="Consolas"/>
              </a:rPr>
              <a:t>Cat vanished: hold 3 grace frames — a dropped detection shouldn't trigger a panic spin.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3657600"/>
            <a:ext cx="5394960" cy="1691640"/>
          </a:xfrm>
          <a:prstGeom prst="rect">
            <a:avLst/>
          </a:prstGeom>
          <a:solidFill>
            <a:srgbClr val="0D130C"/>
          </a:solidFill>
          <a:ln w="15875">
            <a:solidFill>
              <a:srgbClr val="FF54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0000" tIns="90000"/>
          <a:lstStyle/>
          <a:p>
            <a:pPr algn="ctr">
              <a:spcAft>
                <a:spcPts val="600"/>
              </a:spcAft>
            </a:pPr>
            <a:r>
              <a:rPr sz="1500" b="1">
                <a:solidFill>
                  <a:srgbClr val="FF5470"/>
                </a:solidFill>
                <a:latin typeface="Chakra Petch"/>
              </a:rPr>
              <a:t>● SEARCHING</a:t>
            </a:r>
          </a:p>
          <a:p>
            <a:pPr>
              <a:spcAft>
                <a:spcPts val="600"/>
              </a:spcAft>
            </a:pPr>
            <a:r>
              <a:rPr sz="1100" b="0">
                <a:solidFill>
                  <a:srgbClr val="7D967A"/>
                </a:solidFill>
                <a:latin typeface="Consolas"/>
              </a:rPr>
              <a:t>Spin-and-stare: 2 frames rotating toward last-seen side, 3 parked for sharp frames. Continuous spin outran the detector.</a:t>
            </a:r>
          </a:p>
        </p:txBody>
      </p:sp>
      <p:sp>
        <p:nvSpPr>
          <p:cNvPr id="7" name="Rectangle 6"/>
          <p:cNvSpPr/>
          <p:nvPr/>
        </p:nvSpPr>
        <p:spPr>
          <a:xfrm>
            <a:off x="6309360" y="3657600"/>
            <a:ext cx="5394960" cy="1691640"/>
          </a:xfrm>
          <a:prstGeom prst="rect">
            <a:avLst/>
          </a:prstGeom>
          <a:solidFill>
            <a:srgbClr val="0D130C"/>
          </a:solidFill>
          <a:ln w="15875">
            <a:solidFill>
              <a:srgbClr val="5EE6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0000" tIns="90000"/>
          <a:lstStyle/>
          <a:p>
            <a:pPr algn="ctr">
              <a:spcAft>
                <a:spcPts val="600"/>
              </a:spcAft>
            </a:pPr>
            <a:r>
              <a:rPr sz="1500" b="1">
                <a:solidFill>
                  <a:srgbClr val="5EE6D0"/>
                </a:solidFill>
                <a:latin typeface="Chakra Petch"/>
              </a:rPr>
              <a:t>● HOLD</a:t>
            </a:r>
          </a:p>
          <a:p>
            <a:pPr>
              <a:spcAft>
                <a:spcPts val="600"/>
              </a:spcAft>
            </a:pPr>
            <a:r>
              <a:rPr sz="1100" b="0">
                <a:solidFill>
                  <a:srgbClr val="7D967A"/>
                </a:solidFill>
                <a:latin typeface="Consolas"/>
              </a:rPr>
              <a:t>Ultrasonic &lt; 200mm: stop advancing, keep aiming. The no-boop guarantee.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58064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7D967A"/>
                </a:solidFill>
                <a:latin typeface="Consolas"/>
              </a:rPr>
              <a:t>Kill switches: any IR-remote key · Ctrl+C · software callback · runtime limit. Motors stop in a finally block no matter how the loop dies.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B0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100" b="0">
                <a:solidFill>
                  <a:srgbClr val="3D9A45"/>
                </a:solidFill>
                <a:latin typeface="Consolas"/>
              </a:rPr>
              <a:t>// 07 · SIMULATION FIRST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3400" b="1">
                <a:solidFill>
                  <a:srgbClr val="EAFFE6"/>
                </a:solidFill>
                <a:latin typeface="Chakra Petch"/>
              </a:rPr>
              <a:t>PyBullet twin: crash here, not there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737360"/>
            <a:ext cx="60350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300" b="1">
                <a:solidFill>
                  <a:srgbClr val="EAFFE6"/>
                </a:solidFill>
                <a:latin typeface="Consolas"/>
              </a:rPr>
              <a:t>▸ Digital twin  </a:t>
            </a:r>
            <a:r>
              <a:rPr sz="1300">
                <a:solidFill>
                  <a:srgbClr val="7D967A"/>
                </a:solidFill>
                <a:latin typeface="Consolas"/>
              </a:rPr>
              <a:t>same controller, simulated camera/ultrasonic/motors; a physical 'cat' box the ray-cast ultrasonic genuinely sees.</a:t>
            </a:r>
          </a:p>
          <a:p>
            <a:pPr>
              <a:spcAft>
                <a:spcPts val="1000"/>
              </a:spcAft>
            </a:pPr>
            <a:r>
              <a:rPr sz="1300" b="1">
                <a:solidFill>
                  <a:srgbClr val="EAFFE6"/>
                </a:solidFill>
                <a:latin typeface="Consolas"/>
              </a:rPr>
              <a:t>▸ Synthetic detector  </a:t>
            </a:r>
            <a:r>
              <a:rPr sz="1300">
                <a:solidFill>
                  <a:srgbClr val="7D967A"/>
                </a:solidFill>
                <a:latin typeface="Consolas"/>
              </a:rPr>
              <a:t>projects the cat's true bearing through the camera model — validates the control loop, the part that was new.</a:t>
            </a:r>
          </a:p>
          <a:p>
            <a:pPr>
              <a:spcAft>
                <a:spcPts val="1000"/>
              </a:spcAft>
            </a:pPr>
            <a:r>
              <a:rPr sz="1300" b="1">
                <a:solidFill>
                  <a:srgbClr val="EAFFE6"/>
                </a:solidFill>
                <a:latin typeface="Consolas"/>
              </a:rPr>
              <a:t>▸ approach scenario  </a:t>
            </a:r>
            <a:r>
              <a:rPr sz="1300">
                <a:solidFill>
                  <a:srgbClr val="7D967A"/>
                </a:solidFill>
                <a:latin typeface="Consolas"/>
              </a:rPr>
              <a:t>acquire -&gt; center -&gt; drive -&gt; HOLD @238mm, no collision ✓</a:t>
            </a:r>
          </a:p>
          <a:p>
            <a:pPr>
              <a:spcAft>
                <a:spcPts val="1000"/>
              </a:spcAft>
            </a:pPr>
            <a:r>
              <a:rPr sz="1300" b="1">
                <a:solidFill>
                  <a:srgbClr val="EAFFE6"/>
                </a:solidFill>
                <a:latin typeface="Consolas"/>
              </a:rPr>
              <a:t>▸ search scenario  </a:t>
            </a:r>
            <a:r>
              <a:rPr sz="1300">
                <a:solidFill>
                  <a:srgbClr val="7D967A"/>
                </a:solidFill>
                <a:latin typeface="Consolas"/>
              </a:rPr>
              <a:t>out-of-frame cat -&gt; grace -&gt; spin -&gt; acquire -&gt; HOLD @231mm ✓</a:t>
            </a:r>
          </a:p>
        </p:txBody>
      </p:sp>
      <p:sp>
        <p:nvSpPr>
          <p:cNvPr id="5" name="Rectangle 4"/>
          <p:cNvSpPr/>
          <p:nvPr/>
        </p:nvSpPr>
        <p:spPr>
          <a:xfrm>
            <a:off x="7040880" y="1737360"/>
            <a:ext cx="4572000" cy="3108960"/>
          </a:xfrm>
          <a:prstGeom prst="rect">
            <a:avLst/>
          </a:prstGeom>
          <a:solidFill>
            <a:srgbClr val="0D130C"/>
          </a:solidFill>
          <a:ln w="12700">
            <a:solidFill>
              <a:srgbClr val="22331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0000" tIns="90000"/>
          <a:lstStyle/>
          <a:p>
            <a:pPr algn="ctr">
              <a:spcAft>
                <a:spcPts val="200"/>
              </a:spcAft>
            </a:pPr>
            <a:r>
              <a:rPr sz="1100">
                <a:solidFill>
                  <a:srgbClr val="3D9A45"/>
                </a:solidFill>
                <a:latin typeface="Consolas"/>
              </a:rPr>
              <a:t>TEST LEDGER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C9DFC2"/>
                </a:solidFill>
                <a:latin typeface="Consolas"/>
              </a:rPr>
              <a:t/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6CFF5C"/>
                </a:solidFill>
                <a:latin typeface="Consolas"/>
              </a:rPr>
              <a:t>239 passed, 2 xfailed (documented)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C9DFC2"/>
                </a:solidFill>
                <a:latin typeface="Consolas"/>
              </a:rPr>
              <a:t/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C9DFC2"/>
                </a:solidFill>
                <a:latin typeface="Consolas"/>
              </a:rPr>
              <a:t>chase controller units          29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C9DFC2"/>
                </a:solidFill>
                <a:latin typeface="Consolas"/>
              </a:rPr>
              <a:t>dataset harvester                8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C9DFC2"/>
                </a:solidFill>
                <a:latin typeface="Consolas"/>
              </a:rPr>
              <a:t>label review tool               10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C9DFC2"/>
                </a:solidFill>
                <a:latin typeface="Consolas"/>
              </a:rPr>
              <a:t>pybullet end-to-end              2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C9DFC2"/>
                </a:solidFill>
                <a:latin typeface="Consolas"/>
              </a:rPr>
              <a:t>slam suite (inherited)         190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C9DFC2"/>
                </a:solidFill>
                <a:latin typeface="Consolas"/>
              </a:rPr>
              <a:t/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7D967A"/>
                </a:solidFill>
                <a:latin typeface="Consolas"/>
              </a:rPr>
              <a:t># first full-suite completion ever —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7D967A"/>
                </a:solidFill>
                <a:latin typeface="Consolas"/>
              </a:rPr>
              <a:t># an IMU deadlock had hung it forever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B0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100" b="0">
                <a:solidFill>
                  <a:srgbClr val="3D9A45"/>
                </a:solidFill>
                <a:latin typeface="Consolas"/>
              </a:rPr>
              <a:t>// 08 · FIELD RESULTS · LIVE BENGAL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3400" b="1">
                <a:solidFill>
                  <a:srgbClr val="EAFFE6"/>
                </a:solidFill>
                <a:latin typeface="Chakra Petch"/>
              </a:rPr>
              <a:t>Run 2 ended in HOLD at the actual cat</a:t>
            </a:r>
          </a:p>
        </p:txBody>
      </p:sp>
      <p:pic>
        <p:nvPicPr>
          <p:cNvPr id="4" name="Picture 3" descr="det_00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828800"/>
            <a:ext cx="3566160" cy="26746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4503420"/>
            <a:ext cx="3566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solidFill>
                  <a:srgbClr val="7D967A"/>
                </a:solidFill>
                <a:latin typeface="Consolas"/>
              </a:rPr>
              <a:t>LIVE CAT · EDGE ACQUISITION  </a:t>
            </a:r>
            <a:r>
              <a:rPr sz="1000" b="1">
                <a:solidFill>
                  <a:srgbClr val="6CFF5C"/>
                </a:solidFill>
                <a:latin typeface="Consolas"/>
              </a:rPr>
              <a:t>0.63</a:t>
            </a:r>
          </a:p>
        </p:txBody>
      </p:sp>
      <p:pic>
        <p:nvPicPr>
          <p:cNvPr id="6" name="Picture 5" descr="det_012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43400" y="1828800"/>
            <a:ext cx="3566160" cy="26746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343400" y="4503420"/>
            <a:ext cx="3566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solidFill>
                  <a:srgbClr val="7D967A"/>
                </a:solidFill>
                <a:latin typeface="Consolas"/>
              </a:rPr>
              <a:t>FINAL APPROACH  </a:t>
            </a:r>
            <a:r>
              <a:rPr sz="1000" b="1">
                <a:solidFill>
                  <a:srgbClr val="6CFF5C"/>
                </a:solidFill>
                <a:latin typeface="Consolas"/>
              </a:rPr>
              <a:t>0.53</a:t>
            </a:r>
          </a:p>
        </p:txBody>
      </p:sp>
      <p:pic>
        <p:nvPicPr>
          <p:cNvPr id="8" name="Picture 7" descr="det_013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46720" y="1828800"/>
            <a:ext cx="3566160" cy="267462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8046720" y="4503420"/>
            <a:ext cx="3566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solidFill>
                  <a:srgbClr val="7D967A"/>
                </a:solidFill>
                <a:latin typeface="Consolas"/>
              </a:rPr>
              <a:t>POINT BLANK · COMPLETE  </a:t>
            </a:r>
            <a:r>
              <a:rPr sz="1000" b="1">
                <a:solidFill>
                  <a:srgbClr val="6CFF5C"/>
                </a:solidFill>
                <a:latin typeface="Consolas"/>
              </a:rPr>
              <a:t>0.61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521208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7D967A"/>
                </a:solidFill>
                <a:latin typeface="Consolas"/>
              </a:rPr>
              <a:t>Two 120 s untethered WiFi runs. Auto-saved detection snapshots turned debugging from guesswork into evidence — every claim in this deck traces to a frame or a log line.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B0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100" b="0">
                <a:solidFill>
                  <a:srgbClr val="3D9A45"/>
                </a:solidFill>
                <a:latin typeface="Consolas"/>
              </a:rPr>
              <a:t>// 08B · THE CHASE · UNCUT · IPHONE TAPE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3400" b="1">
                <a:solidFill>
                  <a:srgbClr val="EAFFE6"/>
                </a:solidFill>
                <a:latin typeface="Chakra Petch"/>
              </a:rPr>
              <a:t>Roll the footage</a:t>
            </a:r>
          </a:p>
        </p:txBody>
      </p:sp>
      <p:pic>
        <p:nvPicPr>
          <p:cNvPr id="4" name="catchaser_chase.mp4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822960" y="1554480"/>
            <a:ext cx="2834640" cy="50292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4206240" y="1737360"/>
            <a:ext cx="7315200" cy="3291840"/>
          </a:xfrm>
          <a:prstGeom prst="rect">
            <a:avLst/>
          </a:prstGeom>
          <a:solidFill>
            <a:srgbClr val="0D130C"/>
          </a:solidFill>
          <a:ln w="12700">
            <a:solidFill>
              <a:srgbClr val="22331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0000" tIns="90000"/>
          <a:lstStyle/>
          <a:p>
            <a:pPr algn="ctr">
              <a:spcAft>
                <a:spcPts val="200"/>
              </a:spcAft>
            </a:pPr>
            <a:r>
              <a:rPr sz="1300">
                <a:solidFill>
                  <a:srgbClr val="3D9A45"/>
                </a:solidFill>
                <a:latin typeface="Consolas"/>
              </a:rPr>
              <a:t>THE CHASE · IMG_3375</a:t>
            </a:r>
          </a:p>
          <a:p>
            <a:pPr>
              <a:spcAft>
                <a:spcPts val="200"/>
              </a:spcAft>
            </a:pPr>
            <a:r>
              <a:rPr sz="1300">
                <a:solidFill>
                  <a:srgbClr val="C9DFC2"/>
                </a:solidFill>
                <a:latin typeface="Consolas"/>
              </a:rPr>
              <a:t/>
            </a:r>
          </a:p>
          <a:p>
            <a:pPr>
              <a:spcAft>
                <a:spcPts val="200"/>
              </a:spcAft>
            </a:pPr>
            <a:r>
              <a:rPr sz="1300">
                <a:solidFill>
                  <a:srgbClr val="C9DFC2"/>
                </a:solidFill>
                <a:latin typeface="Consolas"/>
              </a:rPr>
              <a:t>source    1080p · 112 MB</a:t>
            </a:r>
          </a:p>
          <a:p>
            <a:pPr>
              <a:spcAft>
                <a:spcPts val="200"/>
              </a:spcAft>
            </a:pPr>
            <a:r>
              <a:rPr sz="1300">
                <a:solidFill>
                  <a:srgbClr val="6CFF5C"/>
                </a:solidFill>
                <a:latin typeface="Consolas"/>
              </a:rPr>
              <a:t>encoded   720p H.264 · 2.6 MB</a:t>
            </a:r>
          </a:p>
          <a:p>
            <a:pPr>
              <a:spcAft>
                <a:spcPts val="200"/>
              </a:spcAft>
            </a:pPr>
            <a:r>
              <a:rPr sz="1300">
                <a:solidFill>
                  <a:srgbClr val="C9DFC2"/>
                </a:solidFill>
                <a:latin typeface="Consolas"/>
              </a:rPr>
              <a:t>embedded  right here in this deck</a:t>
            </a:r>
          </a:p>
          <a:p>
            <a:pPr>
              <a:spcAft>
                <a:spcPts val="200"/>
              </a:spcAft>
            </a:pPr>
            <a:r>
              <a:rPr sz="1300">
                <a:solidFill>
                  <a:srgbClr val="C9DFC2"/>
                </a:solidFill>
                <a:latin typeface="Consolas"/>
              </a:rPr>
              <a:t/>
            </a:r>
          </a:p>
          <a:p>
            <a:pPr>
              <a:spcAft>
                <a:spcPts val="200"/>
              </a:spcAft>
            </a:pPr>
            <a:r>
              <a:rPr sz="1300">
                <a:solidFill>
                  <a:srgbClr val="7D967A"/>
                </a:solidFill>
                <a:latin typeface="Consolas"/>
              </a:rPr>
              <a:t>the loop from the slides, running</a:t>
            </a:r>
          </a:p>
          <a:p>
            <a:pPr>
              <a:spcAft>
                <a:spcPts val="200"/>
              </a:spcAft>
            </a:pPr>
            <a:r>
              <a:rPr sz="1300">
                <a:solidFill>
                  <a:srgbClr val="7D967A"/>
                </a:solidFill>
                <a:latin typeface="Consolas"/>
              </a:rPr>
              <a:t>for real: acquire, center, approach,</a:t>
            </a:r>
          </a:p>
          <a:p>
            <a:pPr>
              <a:spcAft>
                <a:spcPts val="200"/>
              </a:spcAft>
            </a:pPr>
            <a:r>
              <a:rPr sz="1300">
                <a:solidFill>
                  <a:srgbClr val="7D967A"/>
                </a:solidFill>
                <a:latin typeface="Consolas"/>
              </a:rPr>
              <a:t>and the cat's considered response.</a:t>
            </a:r>
          </a:p>
          <a:p>
            <a:pPr>
              <a:spcAft>
                <a:spcPts val="200"/>
              </a:spcAft>
            </a:pPr>
            <a:r>
              <a:rPr sz="1300">
                <a:solidFill>
                  <a:srgbClr val="C9DFC2"/>
                </a:solidFill>
                <a:latin typeface="Consolas"/>
              </a:rPr>
              <a:t/>
            </a:r>
          </a:p>
          <a:p>
            <a:pPr>
              <a:spcAft>
                <a:spcPts val="200"/>
              </a:spcAft>
            </a:pPr>
            <a:r>
              <a:rPr sz="1300">
                <a:solidFill>
                  <a:srgbClr val="FFB454"/>
                </a:solidFill>
                <a:latin typeface="Consolas"/>
              </a:rPr>
              <a:t>verdict   cat: unbothered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4"/>
                </p:tgtEl>
              </p:cMediaNode>
            </p:video>
          </p:childTnLst>
        </p:cTn>
      </p:par>
    </p:tn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B0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100" b="0">
                <a:solidFill>
                  <a:srgbClr val="3D9A45"/>
                </a:solidFill>
                <a:latin typeface="Consolas"/>
              </a:rPr>
              <a:t>// 09 · THE BLOOPER REEL · WHAT THE ROBOT THOUGHT WAS A CAT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3400" b="1">
                <a:solidFill>
                  <a:srgbClr val="EAFFE6"/>
                </a:solidFill>
                <a:latin typeface="Chakra Petch"/>
              </a:rPr>
              <a:t>Failure analysis, with receipts</a:t>
            </a:r>
          </a:p>
        </p:txBody>
      </p:sp>
      <p:pic>
        <p:nvPicPr>
          <p:cNvPr id="4" name="Picture 3" descr="det_01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828800"/>
            <a:ext cx="3566160" cy="26746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4503420"/>
            <a:ext cx="3566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solidFill>
                  <a:srgbClr val="7D967A"/>
                </a:solidFill>
                <a:latin typeface="Consolas"/>
              </a:rPr>
              <a:t>TRASH CAN + MOTION BLUR  </a:t>
            </a:r>
            <a:r>
              <a:rPr sz="1000" b="1">
                <a:solidFill>
                  <a:srgbClr val="FF5470"/>
                </a:solidFill>
                <a:latin typeface="Consolas"/>
              </a:rPr>
              <a:t>0.41 ✗</a:t>
            </a:r>
          </a:p>
        </p:txBody>
      </p:sp>
      <p:pic>
        <p:nvPicPr>
          <p:cNvPr id="6" name="Picture 5" descr="det_011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43400" y="1828800"/>
            <a:ext cx="3566160" cy="26746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343400" y="4503420"/>
            <a:ext cx="3566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solidFill>
                  <a:srgbClr val="7D967A"/>
                </a:solidFill>
                <a:latin typeface="Consolas"/>
              </a:rPr>
              <a:t>CRUMPLED JACKET  </a:t>
            </a:r>
            <a:r>
              <a:rPr sz="1000" b="1">
                <a:solidFill>
                  <a:srgbClr val="FF5470"/>
                </a:solidFill>
                <a:latin typeface="Consolas"/>
              </a:rPr>
              <a:t>0.63 ✗</a:t>
            </a:r>
          </a:p>
        </p:txBody>
      </p:sp>
      <p:pic>
        <p:nvPicPr>
          <p:cNvPr id="8" name="Picture 7" descr="det_008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46720" y="1828800"/>
            <a:ext cx="3566160" cy="267462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8046720" y="4503420"/>
            <a:ext cx="3566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solidFill>
                  <a:srgbClr val="7D967A"/>
                </a:solidFill>
                <a:latin typeface="Consolas"/>
              </a:rPr>
              <a:t>IPAD DECOY (intentional)  </a:t>
            </a:r>
            <a:r>
              <a:rPr sz="1000" b="1">
                <a:solidFill>
                  <a:srgbClr val="6CFF5C"/>
                </a:solidFill>
                <a:latin typeface="Consolas"/>
              </a:rPr>
              <a:t>0.62 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5212080"/>
            <a:ext cx="109728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7D967A"/>
                </a:solidFill>
                <a:latin typeface="Consolas"/>
              </a:rPr>
              <a:t>Lessons burned in: rotation blur is the enemy (spin-and-stare) · dim screens defeat decoys (max brightness) · every config threshold now cites the field frame that set it · and the "unreachable robot" was a stale WiFi profile broadcasting a dead address — trust nmcli, not the OLED.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B0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100" b="0">
                <a:solidFill>
                  <a:srgbClr val="3D9A45"/>
                </a:solidFill>
                <a:latin typeface="Consolas"/>
              </a:rPr>
              <a:t>// 10 · DATASET PIPELINE · COUCH-DRIVEN ML-OPS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3400" b="1">
                <a:solidFill>
                  <a:srgbClr val="EAFFE6"/>
                </a:solidFill>
                <a:latin typeface="Chakra Petch"/>
              </a:rPr>
              <a:t>Chase -&gt; harvest -&gt; thumb-triage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737360"/>
            <a:ext cx="5486400" cy="3108960"/>
          </a:xfrm>
          <a:prstGeom prst="rect">
            <a:avLst/>
          </a:prstGeom>
          <a:solidFill>
            <a:srgbClr val="0D130C"/>
          </a:solidFill>
          <a:ln w="12700">
            <a:solidFill>
              <a:srgbClr val="22331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0000" tIns="90000"/>
          <a:lstStyle/>
          <a:p>
            <a:pPr algn="ctr">
              <a:spcAft>
                <a:spcPts val="200"/>
              </a:spcAft>
            </a:pPr>
            <a:r>
              <a:rPr sz="1200">
                <a:solidFill>
                  <a:srgbClr val="3D9A45"/>
                </a:solidFill>
                <a:latin typeface="Consolas"/>
              </a:rPr>
              <a:t>PHONE WORKFLOW</a:t>
            </a:r>
          </a:p>
          <a:p>
            <a:pPr>
              <a:spcAft>
                <a:spcPts val="200"/>
              </a:spcAft>
            </a:pPr>
            <a:r>
              <a:rPr sz="1200">
                <a:solidFill>
                  <a:srgbClr val="C9DFC2"/>
                </a:solidFill>
                <a:latin typeface="Consolas"/>
              </a:rPr>
              <a:t/>
            </a:r>
          </a:p>
          <a:p>
            <a:pPr>
              <a:spcAft>
                <a:spcPts val="200"/>
              </a:spcAft>
            </a:pPr>
            <a:r>
              <a:rPr sz="1200">
                <a:solidFill>
                  <a:srgbClr val="EAFFE6"/>
                </a:solidFill>
                <a:latin typeface="Consolas"/>
              </a:rPr>
              <a:t>$ ./harvest.sh    # chase + collect (&lt;=1/s dets,</a:t>
            </a:r>
          </a:p>
          <a:p>
            <a:pPr>
              <a:spcAft>
                <a:spcPts val="200"/>
              </a:spcAft>
            </a:pPr>
            <a:r>
              <a:rPr sz="1200">
                <a:solidFill>
                  <a:srgbClr val="7D967A"/>
                </a:solidFill>
                <a:latin typeface="Consolas"/>
              </a:rPr>
              <a:t>                  #  1/10s negatives, cap 300)</a:t>
            </a:r>
          </a:p>
          <a:p>
            <a:pPr>
              <a:spcAft>
                <a:spcPts val="200"/>
              </a:spcAft>
            </a:pPr>
            <a:r>
              <a:rPr sz="1200">
                <a:solidFill>
                  <a:srgbClr val="EAFFE6"/>
                </a:solidFill>
                <a:latin typeface="Consolas"/>
              </a:rPr>
              <a:t>$ ./review.sh     # triage web server :5000</a:t>
            </a:r>
          </a:p>
          <a:p>
            <a:pPr>
              <a:spcAft>
                <a:spcPts val="200"/>
              </a:spcAft>
            </a:pPr>
            <a:r>
              <a:rPr sz="1200">
                <a:solidFill>
                  <a:srgbClr val="C9DFC2"/>
                </a:solidFill>
                <a:latin typeface="Consolas"/>
              </a:rPr>
              <a:t/>
            </a:r>
          </a:p>
          <a:p>
            <a:pPr>
              <a:spcAft>
                <a:spcPts val="200"/>
              </a:spcAft>
            </a:pPr>
            <a:r>
              <a:rPr sz="1200">
                <a:solidFill>
                  <a:srgbClr val="6CFF5C"/>
                </a:solidFill>
                <a:latin typeface="Consolas"/>
              </a:rPr>
              <a:t>g = Good    keep detector's box</a:t>
            </a:r>
          </a:p>
          <a:p>
            <a:pPr>
              <a:spcAft>
                <a:spcPts val="200"/>
              </a:spcAft>
            </a:pPr>
            <a:r>
              <a:rPr sz="1200">
                <a:solidFill>
                  <a:srgbClr val="FF5470"/>
                </a:solidFill>
                <a:latin typeface="Consolas"/>
              </a:rPr>
              <a:t>n = No cat  force clean negative</a:t>
            </a:r>
          </a:p>
          <a:p>
            <a:pPr>
              <a:spcAft>
                <a:spcPts val="200"/>
              </a:spcAft>
            </a:pPr>
            <a:r>
              <a:rPr sz="1200">
                <a:solidFill>
                  <a:srgbClr val="FFB454"/>
                </a:solidFill>
                <a:latin typeface="Consolas"/>
              </a:rPr>
              <a:t>f = Fix     route to real box editor</a:t>
            </a:r>
          </a:p>
          <a:p>
            <a:pPr>
              <a:spcAft>
                <a:spcPts val="200"/>
              </a:spcAft>
            </a:pPr>
            <a:r>
              <a:rPr sz="1200">
                <a:solidFill>
                  <a:srgbClr val="5EE6D0"/>
                </a:solidFill>
                <a:latin typeface="Consolas"/>
              </a:rPr>
              <a:t>u = Undo    lossless, resume anytime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675120" y="1828800"/>
            <a:ext cx="23774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3200" b="1">
                <a:solidFill>
                  <a:srgbClr val="6CFF5C"/>
                </a:solidFill>
                <a:latin typeface="Chakra Petch"/>
              </a:rPr>
              <a:t>244</a:t>
            </a:r>
          </a:p>
          <a:p>
            <a:pPr>
              <a:spcAft>
                <a:spcPts val="0"/>
              </a:spcAft>
            </a:pPr>
            <a:r>
              <a:rPr sz="900" b="0">
                <a:solidFill>
                  <a:srgbClr val="7D967A"/>
                </a:solidFill>
                <a:latin typeface="Consolas"/>
              </a:rPr>
              <a:t>FRAMES TRIAGED · 2 SESSIONS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052560" y="1828800"/>
            <a:ext cx="23774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3200" b="1">
                <a:solidFill>
                  <a:srgbClr val="6CFF5C"/>
                </a:solidFill>
                <a:latin typeface="Chakra Petch"/>
              </a:rPr>
              <a:t>100%</a:t>
            </a:r>
          </a:p>
          <a:p>
            <a:pPr>
              <a:spcAft>
                <a:spcPts val="0"/>
              </a:spcAft>
            </a:pPr>
            <a:r>
              <a:rPr sz="900" b="0">
                <a:solidFill>
                  <a:srgbClr val="7D967A"/>
                </a:solidFill>
                <a:latin typeface="Consolas"/>
              </a:rPr>
              <a:t>PRECISION · 0 FP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675120" y="3017520"/>
            <a:ext cx="23774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3200" b="1">
                <a:solidFill>
                  <a:srgbClr val="FFB454"/>
                </a:solidFill>
                <a:latin typeface="Chakra Petch"/>
              </a:rPr>
              <a:t>90%</a:t>
            </a:r>
          </a:p>
          <a:p>
            <a:pPr>
              <a:spcAft>
                <a:spcPts val="0"/>
              </a:spcAft>
            </a:pPr>
            <a:r>
              <a:rPr sz="900" b="0">
                <a:solidFill>
                  <a:srgbClr val="7D967A"/>
                </a:solidFill>
                <a:latin typeface="Consolas"/>
              </a:rPr>
              <a:t>RECALL · 23 MISSES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052560" y="3017520"/>
            <a:ext cx="23774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3200" b="1">
                <a:solidFill>
                  <a:srgbClr val="5EE6D0"/>
                </a:solidFill>
                <a:latin typeface="Chakra Petch"/>
              </a:rPr>
              <a:t>94.5%</a:t>
            </a:r>
          </a:p>
          <a:p>
            <a:pPr>
              <a:spcAft>
                <a:spcPts val="0"/>
              </a:spcAft>
            </a:pPr>
            <a:r>
              <a:rPr sz="900" b="0">
                <a:solidFill>
                  <a:srgbClr val="7D967A"/>
                </a:solidFill>
                <a:latin typeface="Consolas"/>
              </a:rPr>
              <a:t>F1 SCORE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75120" y="4206240"/>
            <a:ext cx="48463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7D967A"/>
                </a:solidFill>
                <a:latin typeface="Consolas"/>
              </a:rPr>
              <a:t>Triaging by thumb also measures the detector — every tap is a confusion-matrix cell (next slide). It surfaced 23 missed cats hiding as negatives. Fine-tuning waits for ~500 varied positives; these become the eval set to beat.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B0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100" b="0">
                <a:solidFill>
                  <a:srgbClr val="3D9A45"/>
                </a:solidFill>
                <a:latin typeface="Consolas"/>
              </a:rPr>
              <a:t>// 10B · EVALUATION · CONFUSION MATRIX · 244 REVIEWED FRAMES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3400" b="1">
                <a:solidFill>
                  <a:srgbClr val="EAFFE6"/>
                </a:solidFill>
                <a:latin typeface="Chakra Petch"/>
              </a:rPr>
              <a:t>Precision 100% · Recall 90%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737360"/>
          <a:ext cx="5486400" cy="3108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1828800"/>
                <a:gridCol w="1828800"/>
              </a:tblGrid>
              <a:tr h="1036320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D9A45"/>
                          </a:solidFill>
                          <a:latin typeface="Consolas"/>
                        </a:rPr>
                        <a:t/>
                      </a:r>
                    </a:p>
                  </a:txBody>
                  <a:tcPr marT="30000" marB="30000">
                    <a:solidFill>
                      <a:srgbClr val="0D130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D9A45"/>
                          </a:solidFill>
                          <a:latin typeface="Consolas"/>
                        </a:rPr>
                        <a:t>actual: CAT</a:t>
                      </a:r>
                    </a:p>
                  </a:txBody>
                  <a:tcPr marT="30000" marB="30000">
                    <a:solidFill>
                      <a:srgbClr val="0D130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D9A45"/>
                          </a:solidFill>
                          <a:latin typeface="Consolas"/>
                        </a:rPr>
                        <a:t>actual: NO CAT</a:t>
                      </a:r>
                    </a:p>
                  </a:txBody>
                  <a:tcPr marT="30000" marB="30000">
                    <a:solidFill>
                      <a:srgbClr val="0D130C"/>
                    </a:solidFill>
                  </a:tcPr>
                </a:tc>
              </a:tr>
              <a:tr h="1036320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D9A45"/>
                          </a:solidFill>
                          <a:latin typeface="Consolas"/>
                        </a:rPr>
                        <a:t>pred: CAT</a:t>
                      </a:r>
                    </a:p>
                  </a:txBody>
                  <a:tcPr marT="30000" marB="30000">
                    <a:solidFill>
                      <a:srgbClr val="0D130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6CFF5C"/>
                          </a:solidFill>
                          <a:latin typeface="Consolas"/>
                        </a:rPr>
                        <a:t>TP  198</a:t>
                      </a:r>
                    </a:p>
                  </a:txBody>
                  <a:tcPr marT="30000" marB="30000">
                    <a:solidFill>
                      <a:srgbClr val="0D130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7D967A"/>
                          </a:solidFill>
                          <a:latin typeface="Consolas"/>
                        </a:rPr>
                        <a:t>FP  0</a:t>
                      </a:r>
                    </a:p>
                  </a:txBody>
                  <a:tcPr marT="30000" marB="30000">
                    <a:solidFill>
                      <a:srgbClr val="0D130C"/>
                    </a:solidFill>
                  </a:tcPr>
                </a:tc>
              </a:tr>
              <a:tr h="1036320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D9A45"/>
                          </a:solidFill>
                          <a:latin typeface="Consolas"/>
                        </a:rPr>
                        <a:t>pred: NO CAT</a:t>
                      </a:r>
                    </a:p>
                  </a:txBody>
                  <a:tcPr marT="30000" marB="30000">
                    <a:solidFill>
                      <a:srgbClr val="0D130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FFB454"/>
                          </a:solidFill>
                          <a:latin typeface="Consolas"/>
                        </a:rPr>
                        <a:t>FN  23</a:t>
                      </a:r>
                    </a:p>
                  </a:txBody>
                  <a:tcPr marT="30000" marB="30000">
                    <a:solidFill>
                      <a:srgbClr val="0D130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3D9A45"/>
                          </a:solidFill>
                          <a:latin typeface="Consolas"/>
                        </a:rPr>
                        <a:t>TN  23</a:t>
                      </a:r>
                    </a:p>
                  </a:txBody>
                  <a:tcPr marT="30000" marB="30000">
                    <a:solidFill>
                      <a:srgbClr val="0D130C"/>
                    </a:solidFill>
                  </a:tcPr>
                </a:tc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6400800" y="1737360"/>
            <a:ext cx="5212080" cy="3291840"/>
          </a:xfrm>
          <a:prstGeom prst="rect">
            <a:avLst/>
          </a:prstGeom>
          <a:solidFill>
            <a:srgbClr val="0D130C"/>
          </a:solidFill>
          <a:ln w="12700">
            <a:solidFill>
              <a:srgbClr val="22331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0000" tIns="90000"/>
          <a:lstStyle/>
          <a:p>
            <a:pPr algn="ctr">
              <a:spcAft>
                <a:spcPts val="200"/>
              </a:spcAft>
            </a:pPr>
            <a:r>
              <a:rPr sz="1200">
                <a:solidFill>
                  <a:srgbClr val="3D9A45"/>
                </a:solidFill>
                <a:latin typeface="Consolas"/>
              </a:rPr>
              <a:t>METRICS</a:t>
            </a:r>
          </a:p>
          <a:p>
            <a:pPr>
              <a:spcAft>
                <a:spcPts val="200"/>
              </a:spcAft>
            </a:pPr>
            <a:r>
              <a:rPr sz="1200">
                <a:solidFill>
                  <a:srgbClr val="C9DFC2"/>
                </a:solidFill>
                <a:latin typeface="Consolas"/>
              </a:rPr>
              <a:t/>
            </a:r>
          </a:p>
          <a:p>
            <a:pPr>
              <a:spcAft>
                <a:spcPts val="200"/>
              </a:spcAft>
            </a:pPr>
            <a:r>
              <a:rPr sz="1200">
                <a:solidFill>
                  <a:srgbClr val="6CFF5C"/>
                </a:solidFill>
                <a:latin typeface="Consolas"/>
              </a:rPr>
              <a:t>precision   198/198  =  100.0%</a:t>
            </a:r>
          </a:p>
          <a:p>
            <a:pPr>
              <a:spcAft>
                <a:spcPts val="200"/>
              </a:spcAft>
            </a:pPr>
            <a:r>
              <a:rPr sz="1200">
                <a:solidFill>
                  <a:srgbClr val="FFB454"/>
                </a:solidFill>
                <a:latin typeface="Consolas"/>
              </a:rPr>
              <a:t>recall      198/221  =   89.6%</a:t>
            </a:r>
          </a:p>
          <a:p>
            <a:pPr>
              <a:spcAft>
                <a:spcPts val="200"/>
              </a:spcAft>
            </a:pPr>
            <a:r>
              <a:rPr sz="1200">
                <a:solidFill>
                  <a:srgbClr val="C9DFC2"/>
                </a:solidFill>
                <a:latin typeface="Consolas"/>
              </a:rPr>
              <a:t>F1                   =   94.5%</a:t>
            </a:r>
          </a:p>
          <a:p>
            <a:pPr>
              <a:spcAft>
                <a:spcPts val="200"/>
              </a:spcAft>
            </a:pPr>
            <a:r>
              <a:rPr sz="1200">
                <a:solidFill>
                  <a:srgbClr val="C9DFC2"/>
                </a:solidFill>
                <a:latin typeface="Consolas"/>
              </a:rPr>
              <a:t>accuracy    221/244  =   90.6%</a:t>
            </a:r>
          </a:p>
          <a:p>
            <a:pPr>
              <a:spcAft>
                <a:spcPts val="200"/>
              </a:spcAft>
            </a:pPr>
            <a:r>
              <a:rPr sz="1200">
                <a:solidFill>
                  <a:srgbClr val="C9DFC2"/>
                </a:solidFill>
                <a:latin typeface="Consolas"/>
              </a:rPr>
              <a:t/>
            </a:r>
          </a:p>
          <a:p>
            <a:pPr>
              <a:spcAft>
                <a:spcPts val="200"/>
              </a:spcAft>
            </a:pPr>
            <a:r>
              <a:rPr sz="1200">
                <a:solidFill>
                  <a:srgbClr val="7D967A"/>
                </a:solidFill>
                <a:latin typeface="Consolas"/>
              </a:rPr>
              <a:t>0 false positives — the 0.50 threshold</a:t>
            </a:r>
          </a:p>
          <a:p>
            <a:pPr>
              <a:spcAft>
                <a:spcPts val="200"/>
              </a:spcAft>
            </a:pPr>
            <a:r>
              <a:rPr sz="1200">
                <a:solidFill>
                  <a:srgbClr val="7D967A"/>
                </a:solidFill>
                <a:latin typeface="Consolas"/>
              </a:rPr>
              <a:t>earns its keep. ~10% misses, all hard:</a:t>
            </a:r>
          </a:p>
          <a:p>
            <a:pPr>
              <a:spcAft>
                <a:spcPts val="200"/>
              </a:spcAft>
            </a:pPr>
            <a:r>
              <a:rPr sz="1200">
                <a:solidFill>
                  <a:srgbClr val="7D967A"/>
                </a:solidFill>
                <a:latin typeface="Consolas"/>
              </a:rPr>
              <a:t>blur, close-ups, dark-under-furniture.</a:t>
            </a:r>
          </a:p>
          <a:p>
            <a:pPr>
              <a:spcAft>
                <a:spcPts val="200"/>
              </a:spcAft>
            </a:pPr>
            <a:r>
              <a:rPr sz="1200">
                <a:solidFill>
                  <a:srgbClr val="C9DFC2"/>
                </a:solidFill>
                <a:latin typeface="Consolas"/>
              </a:rPr>
              <a:t/>
            </a:r>
          </a:p>
          <a:p>
            <a:pPr>
              <a:spcAft>
                <a:spcPts val="200"/>
              </a:spcAft>
            </a:pPr>
            <a:r>
              <a:rPr sz="1200">
                <a:solidFill>
                  <a:srgbClr val="FFB454"/>
                </a:solidFill>
                <a:latin typeface="Consolas"/>
              </a:rPr>
              <a:t>finding: the 23 misses were mislabeled</a:t>
            </a:r>
          </a:p>
          <a:p>
            <a:pPr>
              <a:spcAft>
                <a:spcPts val="200"/>
              </a:spcAft>
            </a:pPr>
            <a:r>
              <a:rPr sz="1200">
                <a:solidFill>
                  <a:srgbClr val="FFB454"/>
                </a:solidFill>
                <a:latin typeface="Consolas"/>
              </a:rPr>
              <a:t>as negatives — re-box before fine-tune.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B0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100" b="0">
                <a:solidFill>
                  <a:srgbClr val="3D9A45"/>
                </a:solidFill>
                <a:latin typeface="Consolas"/>
              </a:rPr>
              <a:t>// 11 · ROADMAP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3400" b="1">
                <a:solidFill>
                  <a:srgbClr val="EAFFE6"/>
                </a:solidFill>
                <a:latin typeface="Chakra Petch"/>
              </a:rPr>
              <a:t>Next sorties + the SLAM campaign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737360"/>
            <a:ext cx="58521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300" b="1">
                <a:solidFill>
                  <a:srgbClr val="EAFFE6"/>
                </a:solidFill>
                <a:latin typeface="Consolas"/>
              </a:rPr>
              <a:t>▸ Pan-servo search  </a:t>
            </a:r>
            <a:r>
              <a:rPr sz="1300">
                <a:solidFill>
                  <a:srgbClr val="7D967A"/>
                </a:solidFill>
                <a:latin typeface="Consolas"/>
              </a:rPr>
              <a:t>sweep the camera, not the chassis: sharp frames, 3x coverage, zero blur. One servo-sign check away.</a:t>
            </a:r>
          </a:p>
          <a:p>
            <a:pPr>
              <a:spcAft>
                <a:spcPts val="1000"/>
              </a:spcAft>
            </a:pPr>
            <a:r>
              <a:rPr sz="1300" b="1">
                <a:solidFill>
                  <a:srgbClr val="EAFFE6"/>
                </a:solidFill>
                <a:latin typeface="Consolas"/>
              </a:rPr>
              <a:t>▸ Exposure control  </a:t>
            </a:r>
            <a:r>
              <a:rPr sz="1300">
                <a:solidFill>
                  <a:srgbClr val="7D967A"/>
                </a:solidFill>
                <a:latin typeface="Consolas"/>
              </a:rPr>
              <a:t>shorter shutter to cut rotation blur at the source.</a:t>
            </a:r>
          </a:p>
          <a:p>
            <a:pPr>
              <a:spcAft>
                <a:spcPts val="1000"/>
              </a:spcAft>
            </a:pPr>
            <a:r>
              <a:rPr sz="1300" b="1">
                <a:solidFill>
                  <a:srgbClr val="EAFFE6"/>
                </a:solidFill>
                <a:latin typeface="Consolas"/>
              </a:rPr>
              <a:t>▸ Lead pursuit  </a:t>
            </a:r>
            <a:r>
              <a:rPr sz="1300">
                <a:solidFill>
                  <a:srgbClr val="7D967A"/>
                </a:solidFill>
                <a:latin typeface="Consolas"/>
              </a:rPr>
              <a:t>centroid velocity prediction, for when the Bengal stops going easy.</a:t>
            </a:r>
          </a:p>
          <a:p>
            <a:pPr>
              <a:spcAft>
                <a:spcPts val="1000"/>
              </a:spcAft>
            </a:pPr>
            <a:r>
              <a:rPr sz="1300" b="1">
                <a:solidFill>
                  <a:srgbClr val="EAFFE6"/>
                </a:solidFill>
                <a:latin typeface="Consolas"/>
              </a:rPr>
              <a:t>▸ IR kill verification  </a:t>
            </a:r>
            <a:r>
              <a:rPr sz="1300">
                <a:solidFill>
                  <a:srgbClr val="7D967A"/>
                </a:solidFill>
                <a:latin typeface="Consolas"/>
              </a:rPr>
              <a:t>the last unchecked box before unsupervised roaming.</a:t>
            </a:r>
          </a:p>
        </p:txBody>
      </p:sp>
      <p:sp>
        <p:nvSpPr>
          <p:cNvPr id="5" name="Rectangle 4"/>
          <p:cNvSpPr/>
          <p:nvPr/>
        </p:nvSpPr>
        <p:spPr>
          <a:xfrm>
            <a:off x="6766560" y="1737360"/>
            <a:ext cx="4846320" cy="3291840"/>
          </a:xfrm>
          <a:prstGeom prst="rect">
            <a:avLst/>
          </a:prstGeom>
          <a:solidFill>
            <a:srgbClr val="0D130C"/>
          </a:solidFill>
          <a:ln w="12700">
            <a:solidFill>
              <a:srgbClr val="22331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0000" tIns="90000"/>
          <a:lstStyle/>
          <a:p>
            <a:pPr algn="ctr">
              <a:spcAft>
                <a:spcPts val="200"/>
              </a:spcAft>
            </a:pPr>
            <a:r>
              <a:rPr sz="1100">
                <a:solidFill>
                  <a:srgbClr val="3D9A45"/>
                </a:solidFill>
                <a:latin typeface="Consolas"/>
              </a:rPr>
              <a:t>SLAM CAMPAIGN (separate track)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C9DFC2"/>
                </a:solidFill>
                <a:latin typeface="Consolas"/>
              </a:rPr>
              <a:t/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7D967A"/>
                </a:solidFill>
                <a:latin typeface="Consolas"/>
              </a:rPr>
              <a:t>external review: no metric map possible yet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7D967A"/>
                </a:solidFill>
                <a:latin typeface="Consolas"/>
              </a:rPr>
              <a:t>(VO counts frames not metres; EKF never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7D967A"/>
                </a:solidFill>
                <a:latin typeface="Consolas"/>
              </a:rPr>
              <a:t> sees a real camera measurement)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C9DFC2"/>
                </a:solidFill>
                <a:latin typeface="Consolas"/>
              </a:rPr>
              <a:t/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C9DFC2"/>
                </a:solidFill>
                <a:latin typeface="Consolas"/>
              </a:rPr>
              <a:t>phase 1  honest measurement (de-anchor sim)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C9DFC2"/>
                </a:solidFill>
                <a:latin typeface="Consolas"/>
              </a:rPr>
              <a:t>phase 2  keyframe VO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FFB454"/>
                </a:solidFill>
                <a:latin typeface="Consolas"/>
              </a:rPr>
              <a:t>phase 3  metric scale        &lt;- the crux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C9DFC2"/>
                </a:solidFill>
                <a:latin typeface="Consolas"/>
              </a:rPr>
              <a:t>phase 4  real EKF updates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C9DFC2"/>
                </a:solidFill>
                <a:latin typeface="Consolas"/>
              </a:rPr>
              <a:t>phase 5  IMU fusion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C9DFC2"/>
                </a:solidFill>
                <a:latin typeface="Consolas"/>
              </a:rPr>
              <a:t>phase 6  record-replay + hardware ladder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B0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100" b="0">
                <a:solidFill>
                  <a:srgbClr val="3D9A45"/>
                </a:solidFill>
                <a:latin typeface="Consolas"/>
              </a:rPr>
              <a:t>// 12 · END OF TRANSMISSION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3400" b="1">
                <a:solidFill>
                  <a:srgbClr val="EAFFE6"/>
                </a:solidFill>
                <a:latin typeface="Chakra Petch"/>
              </a:rPr>
              <a:t>Built in two days, debugged with evidence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920240"/>
            <a:ext cx="23774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3200" b="1">
                <a:solidFill>
                  <a:srgbClr val="6CFF5C"/>
                </a:solidFill>
                <a:latin typeface="Chakra Petch"/>
              </a:rPr>
              <a:t>13+</a:t>
            </a:r>
          </a:p>
          <a:p>
            <a:pPr>
              <a:spcAft>
                <a:spcPts val="0"/>
              </a:spcAft>
            </a:pPr>
            <a:r>
              <a:rPr sz="900" b="0">
                <a:solidFill>
                  <a:srgbClr val="7D967A"/>
                </a:solidFill>
                <a:latin typeface="Consolas"/>
              </a:rPr>
              <a:t>COMMITS, CLOUD + LOCAL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566160" y="1920240"/>
            <a:ext cx="23774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3200" b="1">
                <a:solidFill>
                  <a:srgbClr val="6CFF5C"/>
                </a:solidFill>
                <a:latin typeface="Chakra Petch"/>
              </a:rPr>
              <a:t>239</a:t>
            </a:r>
          </a:p>
          <a:p>
            <a:pPr>
              <a:spcAft>
                <a:spcPts val="0"/>
              </a:spcAft>
            </a:pPr>
            <a:r>
              <a:rPr sz="900" b="0">
                <a:solidFill>
                  <a:srgbClr val="7D967A"/>
                </a:solidFill>
                <a:latin typeface="Consolas"/>
              </a:rPr>
              <a:t>TESTS GREEN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1920240"/>
            <a:ext cx="23774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3200" b="1">
                <a:solidFill>
                  <a:srgbClr val="6CFF5C"/>
                </a:solidFill>
                <a:latin typeface="Chakra Petch"/>
              </a:rPr>
              <a:t>15 Hz</a:t>
            </a:r>
          </a:p>
          <a:p>
            <a:pPr>
              <a:spcAft>
                <a:spcPts val="0"/>
              </a:spcAft>
            </a:pPr>
            <a:r>
              <a:rPr sz="900" b="0">
                <a:solidFill>
                  <a:srgbClr val="7D967A"/>
                </a:solidFill>
                <a:latin typeface="Consolas"/>
              </a:rPr>
              <a:t>DETECTOR ON PI 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235440" y="1920240"/>
            <a:ext cx="23774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3200" b="1">
                <a:solidFill>
                  <a:srgbClr val="6CFF5C"/>
                </a:solidFill>
                <a:latin typeface="Chakra Petch"/>
              </a:rPr>
              <a:t>1</a:t>
            </a:r>
          </a:p>
          <a:p>
            <a:pPr>
              <a:spcAft>
                <a:spcPts val="0"/>
              </a:spcAft>
            </a:pPr>
            <a:r>
              <a:rPr sz="900" b="0">
                <a:solidFill>
                  <a:srgbClr val="7D967A"/>
                </a:solidFill>
                <a:latin typeface="Consolas"/>
              </a:rPr>
              <a:t>CAT, CORNERED GENTLY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383280"/>
            <a:ext cx="10515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300" b="1">
                <a:solidFill>
                  <a:srgbClr val="EAFFE6"/>
                </a:solidFill>
                <a:latin typeface="Consolas"/>
              </a:rPr>
              <a:t>▸ Stack  </a:t>
            </a:r>
            <a:r>
              <a:rPr sz="1300">
                <a:solidFill>
                  <a:srgbClr val="7D967A"/>
                </a:solidFill>
                <a:latin typeface="Consolas"/>
              </a:rPr>
              <a:t>Python · onnxruntime · OpenCV · PyBullet · Flask · one very patient Bengal</a:t>
            </a:r>
          </a:p>
          <a:p>
            <a:pPr>
              <a:spcAft>
                <a:spcPts val="1000"/>
              </a:spcAft>
            </a:pPr>
            <a:r>
              <a:rPr sz="1300" b="1">
                <a:solidFill>
                  <a:srgbClr val="EAFFE6"/>
                </a:solidFill>
                <a:latin typeface="Consolas"/>
              </a:rPr>
              <a:t>▸ Repo  </a:t>
            </a:r>
            <a:r>
              <a:rPr sz="1300">
                <a:solidFill>
                  <a:srgbClr val="7D967A"/>
                </a:solidFill>
                <a:latin typeface="Consolas"/>
              </a:rPr>
              <a:t>github.com/peter-m-mayer/rover — catchaser/ package, full history</a:t>
            </a:r>
          </a:p>
          <a:p>
            <a:pPr>
              <a:spcAft>
                <a:spcPts val="1000"/>
              </a:spcAft>
            </a:pPr>
            <a:r>
              <a:rPr sz="1300" b="1">
                <a:solidFill>
                  <a:srgbClr val="EAFFE6"/>
                </a:solidFill>
                <a:latin typeface="Consolas"/>
              </a:rPr>
              <a:t>▸ Method  </a:t>
            </a:r>
            <a:r>
              <a:rPr sz="1300">
                <a:solidFill>
                  <a:srgbClr val="7D967A"/>
                </a:solidFill>
                <a:latin typeface="Consolas"/>
              </a:rPr>
              <a:t>sim before hardware · telemetry before tuning · snapshots before speculation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557784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 b="0">
                <a:solidFill>
                  <a:srgbClr val="6CFF5C"/>
                </a:solidFill>
                <a:latin typeface="Consolas"/>
              </a:rPr>
              <a:t>The cat, when reached, was found to be unbothered. Recommend continued observation.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